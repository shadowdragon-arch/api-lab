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3"/>
  </p:notesMasterIdLst>
  <p:handoutMasterIdLst>
    <p:handoutMasterId r:id="rId54"/>
  </p:handoutMasterIdLst>
  <p:sldIdLst>
    <p:sldId id="327" r:id="rId5"/>
    <p:sldId id="330" r:id="rId6"/>
    <p:sldId id="331" r:id="rId7"/>
    <p:sldId id="332" r:id="rId8"/>
    <p:sldId id="298" r:id="rId9"/>
    <p:sldId id="262" r:id="rId10"/>
    <p:sldId id="333" r:id="rId11"/>
    <p:sldId id="263" r:id="rId12"/>
    <p:sldId id="299" r:id="rId13"/>
    <p:sldId id="302" r:id="rId14"/>
    <p:sldId id="264" r:id="rId15"/>
    <p:sldId id="266" r:id="rId16"/>
    <p:sldId id="265" r:id="rId17"/>
    <p:sldId id="276" r:id="rId18"/>
    <p:sldId id="303" r:id="rId19"/>
    <p:sldId id="293" r:id="rId20"/>
    <p:sldId id="277" r:id="rId21"/>
    <p:sldId id="284" r:id="rId22"/>
    <p:sldId id="269" r:id="rId23"/>
    <p:sldId id="304" r:id="rId24"/>
    <p:sldId id="305" r:id="rId25"/>
    <p:sldId id="307" r:id="rId26"/>
    <p:sldId id="306" r:id="rId27"/>
    <p:sldId id="308" r:id="rId28"/>
    <p:sldId id="270" r:id="rId29"/>
    <p:sldId id="309" r:id="rId30"/>
    <p:sldId id="310" r:id="rId31"/>
    <p:sldId id="311" r:id="rId32"/>
    <p:sldId id="312" r:id="rId33"/>
    <p:sldId id="314" r:id="rId34"/>
    <p:sldId id="313" r:id="rId35"/>
    <p:sldId id="315" r:id="rId36"/>
    <p:sldId id="316" r:id="rId37"/>
    <p:sldId id="317" r:id="rId38"/>
    <p:sldId id="294" r:id="rId39"/>
    <p:sldId id="296" r:id="rId40"/>
    <p:sldId id="318" r:id="rId41"/>
    <p:sldId id="319" r:id="rId42"/>
    <p:sldId id="321" r:id="rId43"/>
    <p:sldId id="322" r:id="rId44"/>
    <p:sldId id="323" r:id="rId45"/>
    <p:sldId id="324" r:id="rId46"/>
    <p:sldId id="288" r:id="rId47"/>
    <p:sldId id="289" r:id="rId48"/>
    <p:sldId id="320" r:id="rId49"/>
    <p:sldId id="274" r:id="rId50"/>
    <p:sldId id="275" r:id="rId51"/>
    <p:sldId id="329" r:id="rId52"/>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1"/>
    <p:restoredTop sz="85174"/>
  </p:normalViewPr>
  <p:slideViewPr>
    <p:cSldViewPr snapToGrid="0" snapToObjects="1">
      <p:cViewPr varScale="1">
        <p:scale>
          <a:sx n="75" d="100"/>
          <a:sy n="75" d="100"/>
        </p:scale>
        <p:origin x="1181"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10/20/2026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47</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10/20/2026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9820"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AHMAD BAIHAQI</a:t>
            </a:r>
          </a:p>
          <a:p>
            <a:r>
              <a:rPr lang="en-US" dirty="0">
                <a:solidFill>
                  <a:schemeClr val="bg2"/>
                </a:solidFill>
                <a:latin typeface="Abadi" panose="020B0604020104020204" pitchFamily="34" charset="0"/>
                <a:ea typeface="SF Pro" pitchFamily="2" charset="0"/>
                <a:cs typeface="SF Pro" pitchFamily="2" charset="0"/>
              </a:rPr>
              <a:t>20/10/2026</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770011" y="1609695"/>
            <a:ext cx="10515600" cy="4415877"/>
          </a:xfrm>
          <a:prstGeom prst="rect">
            <a:avLst/>
          </a:prstGeom>
        </p:spPr>
        <p:txBody>
          <a:bodyPr lIns="91440" tIns="45720" rIns="91440" bIns="45720" anchor="t">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lvl="0" indent="0">
              <a:buNone/>
            </a:pPr>
            <a:r>
              <a:rPr lang="en-MY" b="1" dirty="0"/>
              <a:t>Methodologies Applied</a:t>
            </a:r>
            <a:r>
              <a:rPr lang="en-MY" dirty="0"/>
              <a:t>:</a:t>
            </a:r>
          </a:p>
          <a:p>
            <a:pPr lvl="1">
              <a:lnSpc>
                <a:spcPct val="120000"/>
              </a:lnSpc>
            </a:pPr>
            <a:r>
              <a:rPr lang="en-MY" dirty="0"/>
              <a:t>Extracted Falcon 9 historical launch data via SpaceX REST API and web scraping (Wikipedia).</a:t>
            </a:r>
          </a:p>
          <a:p>
            <a:pPr lvl="1">
              <a:lnSpc>
                <a:spcPct val="120000"/>
              </a:lnSpc>
            </a:pPr>
            <a:r>
              <a:rPr lang="en-MY" dirty="0"/>
              <a:t>Cleaned and </a:t>
            </a:r>
            <a:r>
              <a:rPr lang="en-MY" dirty="0" err="1"/>
              <a:t>preprocessed</a:t>
            </a:r>
            <a:r>
              <a:rPr lang="en-MY" dirty="0"/>
              <a:t> data, handling missing payload values and encoding binary landing outcomes (1 = Success, 0 = Failure).</a:t>
            </a:r>
          </a:p>
          <a:p>
            <a:pPr lvl="1">
              <a:lnSpc>
                <a:spcPct val="120000"/>
              </a:lnSpc>
            </a:pPr>
            <a:r>
              <a:rPr lang="en-MY" dirty="0"/>
              <a:t>Conducted Exploratory Data Analysis (EDA) using SQL queries and visual charts (Seaborn/Matplotlib).</a:t>
            </a:r>
          </a:p>
          <a:p>
            <a:pPr lvl="1">
              <a:lnSpc>
                <a:spcPct val="120000"/>
              </a:lnSpc>
            </a:pPr>
            <a:r>
              <a:rPr lang="en-MY" dirty="0"/>
              <a:t>Built interactive geospatial maps with Folium and an analytical dashboard using </a:t>
            </a:r>
            <a:r>
              <a:rPr lang="en-MY" dirty="0" err="1"/>
              <a:t>Plotly</a:t>
            </a:r>
            <a:r>
              <a:rPr lang="en-MY" dirty="0"/>
              <a:t> Dash.</a:t>
            </a:r>
          </a:p>
          <a:p>
            <a:pPr lvl="1">
              <a:lnSpc>
                <a:spcPct val="120000"/>
              </a:lnSpc>
            </a:pPr>
            <a:r>
              <a:rPr lang="en-MY" dirty="0"/>
              <a:t>Trained and tuned classification models (Logistic Regression, SVM, Decision Tree, KNN) with </a:t>
            </a:r>
            <a:r>
              <a:rPr lang="en-MY" dirty="0" err="1"/>
              <a:t>GridSearchCV</a:t>
            </a:r>
            <a:r>
              <a:rPr lang="en-MY" dirty="0"/>
              <a:t>.</a:t>
            </a:r>
          </a:p>
          <a:p>
            <a:pPr marL="0" lvl="0" indent="0">
              <a:buNone/>
            </a:pPr>
            <a:r>
              <a:rPr lang="en-MY" b="1" dirty="0"/>
              <a:t>Key Results &amp; Findings</a:t>
            </a:r>
            <a:r>
              <a:rPr lang="en-MY" dirty="0"/>
              <a:t>:</a:t>
            </a:r>
          </a:p>
          <a:p>
            <a:pPr lvl="1">
              <a:lnSpc>
                <a:spcPct val="120000"/>
              </a:lnSpc>
            </a:pPr>
            <a:r>
              <a:rPr lang="en-MY" dirty="0"/>
              <a:t>Launch success rates increased significantly over time, reaching &gt;80% with newer booster iterations (Block 5).</a:t>
            </a:r>
          </a:p>
          <a:p>
            <a:pPr lvl="1">
              <a:lnSpc>
                <a:spcPct val="120000"/>
              </a:lnSpc>
            </a:pPr>
            <a:r>
              <a:rPr lang="en-MY" dirty="0"/>
              <a:t>Payloads between 2,000 kg and 5,500 kg and orbits such as SSO, HEO, and GEO showed the highest landing success rates.</a:t>
            </a:r>
          </a:p>
          <a:p>
            <a:pPr lvl="1">
              <a:lnSpc>
                <a:spcPct val="120000"/>
              </a:lnSpc>
            </a:pPr>
            <a:r>
              <a:rPr lang="en-MY" dirty="0"/>
              <a:t>All four tuned classification models achieved ~83.3% test accuracy, with the Decision Tree and SVM models demonstrating strong precision and recall for successful booster recoveries.</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828068" y="1424122"/>
            <a:ext cx="10629904" cy="472267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lvl="0" indent="0">
              <a:buNone/>
            </a:pPr>
            <a:r>
              <a:rPr lang="en-MY" b="1" dirty="0"/>
              <a:t>Project Background &amp; Context</a:t>
            </a:r>
            <a:r>
              <a:rPr lang="en-MY" dirty="0"/>
              <a:t>:</a:t>
            </a:r>
          </a:p>
          <a:p>
            <a:pPr lvl="1">
              <a:lnSpc>
                <a:spcPct val="110000"/>
              </a:lnSpc>
            </a:pPr>
            <a:r>
              <a:rPr lang="en-MY" dirty="0"/>
              <a:t>SpaceX has significantly disrupted the commercial space industry by reducing launch costs to ~$62 million per launch (compared to ~$165 million from competitors).</a:t>
            </a:r>
          </a:p>
          <a:p>
            <a:pPr lvl="1">
              <a:lnSpc>
                <a:spcPct val="110000"/>
              </a:lnSpc>
            </a:pPr>
            <a:r>
              <a:rPr lang="en-MY" dirty="0"/>
              <a:t>These substantial cost savings are achieved primarily through the successful recovery and reuse of the Falcon 9 first-stage booster.</a:t>
            </a:r>
          </a:p>
          <a:p>
            <a:pPr marL="0" lvl="0" indent="0">
              <a:buNone/>
            </a:pPr>
            <a:r>
              <a:rPr lang="en-MY" b="1" dirty="0"/>
              <a:t>Core Problems &amp; Objectives</a:t>
            </a:r>
            <a:r>
              <a:rPr lang="en-MY" dirty="0"/>
              <a:t>:</a:t>
            </a:r>
          </a:p>
          <a:p>
            <a:pPr lvl="1">
              <a:lnSpc>
                <a:spcPct val="100000"/>
              </a:lnSpc>
            </a:pPr>
            <a:r>
              <a:rPr lang="en-MY" dirty="0"/>
              <a:t>Can we accurately predict whether the Falcon 9 first stage will land successfully?</a:t>
            </a:r>
          </a:p>
          <a:p>
            <a:pPr lvl="1">
              <a:lnSpc>
                <a:spcPct val="100000"/>
              </a:lnSpc>
            </a:pPr>
            <a:r>
              <a:rPr lang="en-MY" dirty="0"/>
              <a:t>What key factors (e.g., payload mass, launch site, orbit type, flight number) influence landing success?</a:t>
            </a:r>
          </a:p>
          <a:p>
            <a:pPr lvl="1">
              <a:lnSpc>
                <a:spcPct val="100000"/>
              </a:lnSpc>
            </a:pPr>
            <a:r>
              <a:rPr lang="en-MY" dirty="0"/>
              <a:t>How can these predictive insights enable competing launch providers to estimate launch costs and bid competitively against SpaceX?</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8800" dirty="0">
                <a:solidFill>
                  <a:schemeClr val="accent3">
                    <a:lumMod val="25000"/>
                  </a:schemeClr>
                </a:solidFill>
                <a:latin typeface="Abadi"/>
              </a:rPr>
              <a:t>Data collection methodology:</a:t>
            </a:r>
          </a:p>
          <a:p>
            <a:pPr marL="0" indent="0">
              <a:lnSpc>
                <a:spcPct val="120000"/>
              </a:lnSpc>
              <a:spcBef>
                <a:spcPts val="1400"/>
              </a:spcBef>
              <a:buNone/>
            </a:pPr>
            <a:r>
              <a:rPr lang="en-US" sz="8800" dirty="0">
                <a:solidFill>
                  <a:schemeClr val="accent3">
                    <a:lumMod val="25000"/>
                  </a:schemeClr>
                </a:solidFill>
                <a:latin typeface="Abadi"/>
              </a:rPr>
              <a:t>	</a:t>
            </a:r>
            <a:r>
              <a:rPr lang="en-MY" sz="8000" dirty="0">
                <a:solidFill>
                  <a:schemeClr val="tx1"/>
                </a:solidFill>
              </a:rPr>
              <a:t>Extracted launch records from SpaceX REST API and scraped historical mission data 	from Wikipedia using </a:t>
            </a:r>
            <a:r>
              <a:rPr lang="en-MY" sz="8000" dirty="0" err="1">
                <a:solidFill>
                  <a:schemeClr val="tx1"/>
                </a:solidFill>
              </a:rPr>
              <a:t>BeautifulSoup</a:t>
            </a:r>
            <a:r>
              <a:rPr lang="en-MY" sz="8000" dirty="0">
                <a:solidFill>
                  <a:schemeClr val="tx1"/>
                </a:solidFill>
              </a:rPr>
              <a:t>.</a:t>
            </a:r>
            <a:r>
              <a:rPr lang="en-US" sz="7600" dirty="0">
                <a:solidFill>
                  <a:schemeClr val="tx1"/>
                </a:solidFill>
                <a:latin typeface="Abadi"/>
              </a:rPr>
              <a:t> </a:t>
            </a:r>
          </a:p>
          <a:p>
            <a:pPr>
              <a:lnSpc>
                <a:spcPct val="120000"/>
              </a:lnSpc>
              <a:spcBef>
                <a:spcPts val="1400"/>
              </a:spcBef>
            </a:pPr>
            <a:r>
              <a:rPr lang="en-US" sz="8800" dirty="0">
                <a:solidFill>
                  <a:schemeClr val="accent3">
                    <a:lumMod val="25000"/>
                  </a:schemeClr>
                </a:solidFill>
                <a:latin typeface="Abadi"/>
              </a:rPr>
              <a:t>Perform data wrangling</a:t>
            </a:r>
          </a:p>
          <a:p>
            <a:pPr marL="0" indent="0">
              <a:lnSpc>
                <a:spcPct val="120000"/>
              </a:lnSpc>
              <a:spcBef>
                <a:spcPts val="1400"/>
              </a:spcBef>
              <a:buNone/>
            </a:pPr>
            <a:r>
              <a:rPr lang="en-MY" sz="7200" dirty="0">
                <a:solidFill>
                  <a:schemeClr val="tx1"/>
                </a:solidFill>
              </a:rPr>
              <a:t>	Handled missing payload values (mean imputation) and created binary landing outcome target 	variable Class (1 for success, 0 for failure).</a:t>
            </a:r>
            <a:endParaRPr lang="en-US" sz="7200" dirty="0">
              <a:solidFill>
                <a:schemeClr val="tx1"/>
              </a:solidFill>
              <a:latin typeface="Abadi"/>
            </a:endParaRPr>
          </a:p>
          <a:p>
            <a:pPr>
              <a:lnSpc>
                <a:spcPct val="120000"/>
              </a:lnSpc>
              <a:spcBef>
                <a:spcPts val="1400"/>
              </a:spcBef>
            </a:pPr>
            <a:r>
              <a:rPr lang="en-US" sz="8800" dirty="0">
                <a:solidFill>
                  <a:schemeClr val="accent3">
                    <a:lumMod val="25000"/>
                  </a:schemeClr>
                </a:solidFill>
                <a:latin typeface="Abadi"/>
              </a:rPr>
              <a:t>Perform exploratory data analysis (EDA) using visualization and SQL</a:t>
            </a:r>
          </a:p>
          <a:p>
            <a:pPr marL="0" indent="0">
              <a:spcBef>
                <a:spcPts val="1400"/>
              </a:spcBef>
              <a:buNone/>
            </a:pPr>
            <a:r>
              <a:rPr lang="en-US" sz="8800" dirty="0">
                <a:solidFill>
                  <a:schemeClr val="accent3">
                    <a:lumMod val="25000"/>
                  </a:schemeClr>
                </a:solidFill>
                <a:latin typeface="Abadi"/>
              </a:rPr>
              <a:t>  	</a:t>
            </a:r>
            <a:r>
              <a:rPr lang="en-MY" sz="7200" dirty="0">
                <a:solidFill>
                  <a:schemeClr val="tx1"/>
                </a:solidFill>
              </a:rPr>
              <a:t>Visualized feature correlations using Matplotlib/Seaborn and executed SQL queries to </a:t>
            </a:r>
            <a:r>
              <a:rPr lang="en-MY" sz="7200" dirty="0" err="1">
                <a:solidFill>
                  <a:schemeClr val="tx1"/>
                </a:solidFill>
              </a:rPr>
              <a:t>analyze</a:t>
            </a:r>
            <a:r>
              <a:rPr lang="en-MY" sz="7200" dirty="0">
                <a:solidFill>
                  <a:schemeClr val="tx1"/>
                </a:solidFill>
              </a:rPr>
              <a:t> 	payload distributions and site performance.</a:t>
            </a:r>
            <a:endParaRPr lang="en-US" sz="88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68873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667FEB-5B10-B555-A9CD-9D9CE4A84230}"/>
              </a:ext>
            </a:extLst>
          </p:cNvPr>
          <p:cNvSpPr>
            <a:spLocks noGrp="1"/>
          </p:cNvSpPr>
          <p:nvPr>
            <p:ph idx="1"/>
          </p:nvPr>
        </p:nvSpPr>
        <p:spPr/>
        <p:txBody>
          <a:bodyPr/>
          <a:lstStyle/>
          <a:p>
            <a:pPr>
              <a:lnSpc>
                <a:spcPct val="120000"/>
              </a:lnSpc>
              <a:spcBef>
                <a:spcPts val="1400"/>
              </a:spcBef>
            </a:pPr>
            <a:r>
              <a:rPr lang="en-US" dirty="0">
                <a:solidFill>
                  <a:schemeClr val="accent3">
                    <a:lumMod val="25000"/>
                  </a:schemeClr>
                </a:solidFill>
                <a:latin typeface="Abadi"/>
              </a:rPr>
              <a:t>Perform interactive visual analytics using Folium and </a:t>
            </a:r>
            <a:r>
              <a:rPr lang="en-US" dirty="0" err="1">
                <a:solidFill>
                  <a:schemeClr val="accent3">
                    <a:lumMod val="25000"/>
                  </a:schemeClr>
                </a:solidFill>
                <a:latin typeface="Abadi"/>
              </a:rPr>
              <a:t>Plotly</a:t>
            </a:r>
            <a:r>
              <a:rPr lang="en-US" dirty="0">
                <a:solidFill>
                  <a:schemeClr val="accent3">
                    <a:lumMod val="25000"/>
                  </a:schemeClr>
                </a:solidFill>
                <a:latin typeface="Abadi"/>
              </a:rPr>
              <a:t> Dash</a:t>
            </a:r>
          </a:p>
          <a:p>
            <a:pPr marL="0" indent="0">
              <a:spcBef>
                <a:spcPts val="1400"/>
              </a:spcBef>
              <a:buNone/>
            </a:pPr>
            <a:r>
              <a:rPr lang="en-MY" sz="1800" dirty="0"/>
              <a:t>Plotted geographical launch clusters and proximity distances using Folium; built interactive dashboard filters using </a:t>
            </a:r>
            <a:r>
              <a:rPr lang="en-MY" sz="1800" dirty="0" err="1"/>
              <a:t>Plotly</a:t>
            </a:r>
            <a:r>
              <a:rPr lang="en-MY" sz="1800" dirty="0"/>
              <a:t> Dash.</a:t>
            </a:r>
            <a:endParaRPr lang="en-US" sz="1800" dirty="0">
              <a:solidFill>
                <a:schemeClr val="accent3">
                  <a:lumMod val="25000"/>
                </a:schemeClr>
              </a:solidFill>
              <a:latin typeface="Abadi"/>
            </a:endParaRPr>
          </a:p>
          <a:p>
            <a:pPr>
              <a:lnSpc>
                <a:spcPct val="120000"/>
              </a:lnSpc>
              <a:spcBef>
                <a:spcPts val="1400"/>
              </a:spcBef>
            </a:pPr>
            <a:r>
              <a:rPr lang="en-US" dirty="0">
                <a:solidFill>
                  <a:schemeClr val="accent3">
                    <a:lumMod val="25000"/>
                  </a:schemeClr>
                </a:solidFill>
                <a:latin typeface="Abadi"/>
              </a:rPr>
              <a:t>Perform predictive analysis using classification models</a:t>
            </a:r>
          </a:p>
          <a:p>
            <a:pPr marL="0" indent="0">
              <a:spcBef>
                <a:spcPts val="1400"/>
              </a:spcBef>
              <a:buNone/>
            </a:pPr>
            <a:r>
              <a:rPr lang="en-MY" sz="1800" dirty="0"/>
              <a:t>Built, optimized, and evaluated Logistic Regression, SVM, Decision Tree, and KNN models using </a:t>
            </a:r>
            <a:r>
              <a:rPr lang="en-MY" sz="1800" dirty="0" err="1"/>
              <a:t>GridSearchCV</a:t>
            </a:r>
            <a:r>
              <a:rPr lang="en-MY" sz="1800" dirty="0"/>
              <a:t>.</a:t>
            </a:r>
            <a:endParaRPr lang="en-US" sz="1800" dirty="0">
              <a:solidFill>
                <a:schemeClr val="accent3">
                  <a:lumMod val="25000"/>
                </a:schemeClr>
              </a:solidFill>
              <a:latin typeface="Abadi"/>
            </a:endParaRPr>
          </a:p>
          <a:p>
            <a:pPr marL="0" indent="0">
              <a:buNone/>
            </a:pPr>
            <a:endParaRPr lang="en-MY" dirty="0"/>
          </a:p>
        </p:txBody>
      </p:sp>
      <p:sp>
        <p:nvSpPr>
          <p:cNvPr id="5" name="Title 1">
            <a:extLst>
              <a:ext uri="{FF2B5EF4-FFF2-40B4-BE49-F238E27FC236}">
                <a16:creationId xmlns:a16="http://schemas.microsoft.com/office/drawing/2014/main" id="{6E913203-769B-7D65-3D9C-436F164D497E}"/>
              </a:ext>
            </a:extLst>
          </p:cNvPr>
          <p:cNvSpPr txBox="1">
            <a:spLocks noGrp="1"/>
          </p:cNvSpPr>
          <p:nvPr>
            <p:ph type="title"/>
          </p:nvPr>
        </p:nvSpPr>
        <p:spPr>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037891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9958949" cy="3630295"/>
          </a:xfrm>
          <a:prstGeom prst="rect">
            <a:avLst/>
          </a:prstGeom>
        </p:spPr>
        <p:txBody>
          <a:bodyPr/>
          <a:lstStyle/>
          <a:p>
            <a:pPr lvl="0"/>
            <a:r>
              <a:rPr lang="en-MY" sz="2000" b="1" dirty="0"/>
              <a:t>SpaceX REST API Integration</a:t>
            </a:r>
            <a:r>
              <a:rPr lang="en-MY" sz="2000" dirty="0"/>
              <a:t>:</a:t>
            </a:r>
          </a:p>
          <a:p>
            <a:pPr lvl="1"/>
            <a:r>
              <a:rPr lang="en-MY" sz="2000" dirty="0"/>
              <a:t>Issued GET requests to SpaceX endpoints (/v4/launches/past and static backup endpoint) to extract raw JSON launch records. </a:t>
            </a:r>
          </a:p>
          <a:p>
            <a:pPr lvl="1"/>
            <a:r>
              <a:rPr lang="en-MY" sz="2000" dirty="0"/>
              <a:t>Extracted core booster landing outcomes, payload masses, launchpad geographic coordinates, and booster flight counts. </a:t>
            </a:r>
          </a:p>
          <a:p>
            <a:pPr lvl="1"/>
            <a:r>
              <a:rPr lang="en-MY" sz="2000" dirty="0"/>
              <a:t>Filtered data specifically for Falcon 9 launches (removing Falcon 1) up to November 13, 2020. </a:t>
            </a:r>
          </a:p>
          <a:p>
            <a:pPr lvl="0"/>
            <a:r>
              <a:rPr lang="en-MY" sz="2000" b="1" dirty="0"/>
              <a:t>Web Scraping (Wikipedia)</a:t>
            </a:r>
            <a:r>
              <a:rPr lang="en-MY" sz="2000" dirty="0"/>
              <a:t>:</a:t>
            </a:r>
          </a:p>
          <a:p>
            <a:pPr lvl="1"/>
            <a:r>
              <a:rPr lang="en-MY" sz="2000" dirty="0"/>
              <a:t>Extracted historical Falcon 9 launch records directly from Wikipedia using Python requests and </a:t>
            </a:r>
            <a:r>
              <a:rPr lang="en-MY" sz="2000" dirty="0" err="1"/>
              <a:t>BeautifulSoup</a:t>
            </a:r>
            <a:r>
              <a:rPr lang="en-MY" sz="2000" dirty="0"/>
              <a:t>.</a:t>
            </a:r>
          </a:p>
          <a:p>
            <a:pPr lvl="1"/>
            <a:r>
              <a:rPr lang="en-MY" sz="2000" dirty="0"/>
              <a:t>Parsed HTML tables (</a:t>
            </a:r>
            <a:r>
              <a:rPr lang="en-MY" sz="2000" dirty="0" err="1"/>
              <a:t>wikitable</a:t>
            </a:r>
            <a:r>
              <a:rPr lang="en-MY" sz="2000" dirty="0"/>
              <a:t>) to harvest flight numbers, launch dates, booster types, payloads, and landing sites.</a:t>
            </a:r>
          </a:p>
          <a:p>
            <a:pPr lvl="1"/>
            <a:r>
              <a:rPr lang="en-MY" sz="2000" dirty="0"/>
              <a:t>Converted scraped records into structured tabular format to complement the API records.</a:t>
            </a:r>
          </a:p>
          <a:p>
            <a:pPr marL="0" indent="0">
              <a:buNone/>
            </a:pPr>
            <a:endParaRPr lang="en-US" sz="2000" dirty="0"/>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4640263" cy="4225925"/>
          </a:xfrm>
          <a:prstGeom prst="rect">
            <a:avLst/>
          </a:prstGeom>
        </p:spPr>
        <p:txBody>
          <a:bodyPr vert="horz" lIns="91440" tIns="45720" rIns="91440" bIns="45720" rtlCol="0" anchor="t">
            <a:normAutofit fontScale="85000" lnSpcReduction="20000"/>
          </a:bodyPr>
          <a:lstStyle/>
          <a:p>
            <a:pPr lvl="0"/>
            <a:r>
              <a:rPr lang="en-MY" sz="2400" b="1" dirty="0"/>
              <a:t>Request:</a:t>
            </a:r>
            <a:r>
              <a:rPr lang="en-MY" sz="2400" dirty="0"/>
              <a:t> GET request to static endpoint (</a:t>
            </a:r>
            <a:r>
              <a:rPr lang="en-MY" dirty="0" err="1"/>
              <a:t>API_call_spacex_api.json</a:t>
            </a:r>
            <a:r>
              <a:rPr lang="en-MY" sz="2400" dirty="0"/>
              <a:t>) and parsed with </a:t>
            </a:r>
            <a:r>
              <a:rPr lang="en-MY" dirty="0" err="1"/>
              <a:t>pd.json_normalize</a:t>
            </a:r>
            <a:r>
              <a:rPr lang="en-MY" dirty="0"/>
              <a:t>()</a:t>
            </a:r>
            <a:endParaRPr lang="en-MY" sz="2400" dirty="0"/>
          </a:p>
          <a:p>
            <a:pPr lvl="0"/>
            <a:r>
              <a:rPr lang="en-MY" sz="2400" b="1" dirty="0"/>
              <a:t>Filtering:</a:t>
            </a:r>
            <a:r>
              <a:rPr lang="en-MY" sz="2400" dirty="0"/>
              <a:t> Isolated single-core and single-payload missions up to </a:t>
            </a:r>
            <a:r>
              <a:rPr lang="en-MY" dirty="0"/>
              <a:t>2020-11-13</a:t>
            </a:r>
            <a:endParaRPr lang="en-MY" sz="2400" dirty="0"/>
          </a:p>
          <a:p>
            <a:pPr lvl="0"/>
            <a:r>
              <a:rPr lang="en-MY" sz="2400" b="1" dirty="0"/>
              <a:t>Feature Extraction:</a:t>
            </a:r>
            <a:r>
              <a:rPr lang="en-MY" sz="2400" dirty="0"/>
              <a:t> Mapped booster, payload, launchpad, and core details</a:t>
            </a:r>
          </a:p>
          <a:p>
            <a:pPr lvl="0"/>
            <a:r>
              <a:rPr lang="en-MY" sz="2400" b="1" dirty="0"/>
              <a:t>Wrangling:</a:t>
            </a:r>
            <a:r>
              <a:rPr lang="en-MY" sz="2400" dirty="0"/>
              <a:t> Filtered for Falcon 9, imputed missing </a:t>
            </a:r>
            <a:r>
              <a:rPr lang="en-MY" dirty="0" err="1"/>
              <a:t>PayloadMass</a:t>
            </a:r>
            <a:r>
              <a:rPr lang="en-MY" sz="2400" dirty="0"/>
              <a:t> using mean, and exported to </a:t>
            </a:r>
            <a:r>
              <a:rPr lang="en-MY" dirty="0"/>
              <a:t>dataset_part_1.csv</a:t>
            </a:r>
            <a:endParaRPr lang="en-US" sz="2200" dirty="0">
              <a:solidFill>
                <a:schemeClr val="accent3">
                  <a:lumMod val="25000"/>
                </a:schemeClr>
              </a:solidFill>
              <a:latin typeface="Abadi"/>
            </a:endParaRPr>
          </a:p>
          <a:p>
            <a:pPr>
              <a:spcBef>
                <a:spcPts val="1400"/>
              </a:spcBef>
            </a:pPr>
            <a:r>
              <a:rPr lang="en-MY" sz="2400" dirty="0"/>
              <a:t>GitHub URL: https://github.com/shadowdragon-arch/API-Lab.git</a:t>
            </a:r>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pic>
        <p:nvPicPr>
          <p:cNvPr id="7" name="Picture 6">
            <a:extLst>
              <a:ext uri="{FF2B5EF4-FFF2-40B4-BE49-F238E27FC236}">
                <a16:creationId xmlns:a16="http://schemas.microsoft.com/office/drawing/2014/main" id="{D7F615EA-8F2E-D8B5-C0A3-C5D17453E20F}"/>
              </a:ext>
            </a:extLst>
          </p:cNvPr>
          <p:cNvPicPr>
            <a:picLocks noChangeAspect="1"/>
          </p:cNvPicPr>
          <p:nvPr/>
        </p:nvPicPr>
        <p:blipFill>
          <a:blip r:embed="rId3"/>
          <a:stretch>
            <a:fillRect/>
          </a:stretch>
        </p:blipFill>
        <p:spPr>
          <a:xfrm>
            <a:off x="6644639" y="1456514"/>
            <a:ext cx="3916077" cy="5401486"/>
          </a:xfrm>
          <a:prstGeom prst="rect">
            <a:avLst/>
          </a:prstGeom>
        </p:spPr>
      </p:pic>
    </p:spTree>
    <p:extLst>
      <p:ext uri="{BB962C8B-B14F-4D97-AF65-F5344CB8AC3E}">
        <p14:creationId xmlns:p14="http://schemas.microsoft.com/office/powerpoint/2010/main" val="280316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0" y="1792288"/>
            <a:ext cx="5244709" cy="4527062"/>
          </a:xfrm>
          <a:prstGeom prst="rect">
            <a:avLst/>
          </a:prstGeom>
        </p:spPr>
        <p:txBody>
          <a:bodyPr lIns="91440" tIns="45720" rIns="91440" bIns="45720" anchor="t">
            <a:noAutofit/>
          </a:bodyPr>
          <a:lstStyle/>
          <a:p>
            <a:pPr>
              <a:spcBef>
                <a:spcPts val="1400"/>
              </a:spcBef>
            </a:pPr>
            <a:r>
              <a:rPr lang="en-MY" sz="1600" b="1" dirty="0"/>
              <a:t>Request &amp; Parse:</a:t>
            </a:r>
            <a:r>
              <a:rPr lang="en-MY" sz="1600" dirty="0"/>
              <a:t> Performed GET request on the Wikipedia historical launch snapshot (</a:t>
            </a:r>
            <a:r>
              <a:rPr lang="en-MY" sz="1600" dirty="0" err="1"/>
              <a:t>oldid</a:t>
            </a:r>
            <a:r>
              <a:rPr lang="en-MY" sz="1600" dirty="0"/>
              <a:t>=1027686922) and initialized a </a:t>
            </a:r>
            <a:r>
              <a:rPr lang="en-MY" sz="1600" dirty="0" err="1"/>
              <a:t>BeautifulSoup</a:t>
            </a:r>
            <a:r>
              <a:rPr lang="en-MY" sz="1600" dirty="0"/>
              <a:t> object.</a:t>
            </a:r>
          </a:p>
          <a:p>
            <a:pPr lvl="0"/>
            <a:r>
              <a:rPr lang="en-MY" sz="1600" b="1" dirty="0"/>
              <a:t>Header Extraction:</a:t>
            </a:r>
            <a:r>
              <a:rPr lang="en-MY" sz="1600" dirty="0"/>
              <a:t> Extracted table columns (&lt;</a:t>
            </a:r>
            <a:r>
              <a:rPr lang="en-MY" sz="1600" dirty="0" err="1"/>
              <a:t>th</a:t>
            </a:r>
            <a:r>
              <a:rPr lang="en-MY" sz="1600" dirty="0"/>
              <a:t>&gt;) using custom helper function </a:t>
            </a:r>
            <a:r>
              <a:rPr lang="en-MY" sz="1600" dirty="0" err="1"/>
              <a:t>extract_column_from_header</a:t>
            </a:r>
            <a:r>
              <a:rPr lang="en-MY" sz="1600" dirty="0"/>
              <a:t>().</a:t>
            </a:r>
          </a:p>
          <a:p>
            <a:pPr lvl="0"/>
            <a:r>
              <a:rPr lang="en-MY" sz="1600" b="1" dirty="0"/>
              <a:t>Data Extraction:</a:t>
            </a:r>
            <a:r>
              <a:rPr lang="en-MY" sz="1600" dirty="0"/>
              <a:t> Iterated through launch table rows (&lt;tr&gt; and &lt;td&gt;), cleaning cell noise and parsing mission attributes (Flight No., Date, Version Booster, Launch Site, Payload, Orbit, Customer, Outcome, Booster Landing).</a:t>
            </a:r>
          </a:p>
          <a:p>
            <a:pPr lvl="0"/>
            <a:r>
              <a:rPr lang="en-MY" sz="1600" b="1" dirty="0" err="1"/>
              <a:t>DataFrame</a:t>
            </a:r>
            <a:r>
              <a:rPr lang="en-MY" sz="1600" b="1" dirty="0"/>
              <a:t> Conversion &amp; Export:</a:t>
            </a:r>
            <a:r>
              <a:rPr lang="en-MY" sz="1600" dirty="0"/>
              <a:t> Compiled data into </a:t>
            </a:r>
            <a:r>
              <a:rPr lang="en-MY" sz="1600" dirty="0" err="1"/>
              <a:t>launch_dict</a:t>
            </a:r>
            <a:r>
              <a:rPr lang="en-MY" sz="1600" dirty="0"/>
              <a:t>, structured into a Pandas </a:t>
            </a:r>
            <a:r>
              <a:rPr lang="en-MY" sz="1600" dirty="0" err="1"/>
              <a:t>DataFrame</a:t>
            </a:r>
            <a:r>
              <a:rPr lang="en-MY" sz="1600" dirty="0"/>
              <a:t>, and exported as spacex_web_scraped.csv.</a:t>
            </a:r>
          </a:p>
          <a:p>
            <a:pPr>
              <a:spcBef>
                <a:spcPts val="1400"/>
              </a:spcBef>
            </a:pPr>
            <a:endParaRPr lang="en-US" sz="1600" dirty="0">
              <a:solidFill>
                <a:schemeClr val="accent3">
                  <a:lumMod val="25000"/>
                </a:schemeClr>
              </a:solidFill>
              <a:latin typeface="Abadi" panose="020B0604020104020204" pitchFamily="34" charset="0"/>
            </a:endParaRPr>
          </a:p>
          <a:p>
            <a:pPr>
              <a:lnSpc>
                <a:spcPct val="100000"/>
              </a:lnSpc>
              <a:spcBef>
                <a:spcPts val="1400"/>
              </a:spcBef>
            </a:pPr>
            <a:r>
              <a:rPr lang="en-US" sz="1600" dirty="0">
                <a:solidFill>
                  <a:schemeClr val="accent3">
                    <a:lumMod val="25000"/>
                  </a:schemeClr>
                </a:solidFill>
                <a:latin typeface="Abadi" panose="020B0604020104020204" pitchFamily="34" charset="0"/>
              </a:rPr>
              <a:t>GITHUB URL: https://github.com/shadowdragon-arch/API-Lab.git</a:t>
            </a: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pic>
        <p:nvPicPr>
          <p:cNvPr id="7" name="Picture 6">
            <a:extLst>
              <a:ext uri="{FF2B5EF4-FFF2-40B4-BE49-F238E27FC236}">
                <a16:creationId xmlns:a16="http://schemas.microsoft.com/office/drawing/2014/main" id="{6D8A2551-879D-54D7-E786-A515537F5100}"/>
              </a:ext>
            </a:extLst>
          </p:cNvPr>
          <p:cNvPicPr>
            <a:picLocks noChangeAspect="1"/>
          </p:cNvPicPr>
          <p:nvPr/>
        </p:nvPicPr>
        <p:blipFill>
          <a:blip r:embed="rId3"/>
          <a:stretch>
            <a:fillRect/>
          </a:stretch>
        </p:blipFill>
        <p:spPr>
          <a:xfrm>
            <a:off x="6351833" y="1231281"/>
            <a:ext cx="3863444" cy="5328888"/>
          </a:xfrm>
          <a:prstGeom prst="rect">
            <a:avLst/>
          </a:prstGeom>
        </p:spPr>
      </p:pic>
    </p:spTree>
    <p:extLst>
      <p:ext uri="{BB962C8B-B14F-4D97-AF65-F5344CB8AC3E}">
        <p14:creationId xmlns:p14="http://schemas.microsoft.com/office/powerpoint/2010/main" val="1385553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414411" y="1674235"/>
            <a:ext cx="8975652" cy="4351338"/>
          </a:xfrm>
          <a:prstGeom prst="rect">
            <a:avLst/>
          </a:prstGeom>
        </p:spPr>
        <p:txBody>
          <a:bodyPr/>
          <a:lstStyle/>
          <a:p>
            <a:pPr marL="0" indent="0">
              <a:buNone/>
            </a:pPr>
            <a:r>
              <a:rPr lang="en-MY" sz="1800" b="1" dirty="0"/>
              <a:t>Data Processing Steps:</a:t>
            </a:r>
            <a:endParaRPr lang="en-MY" sz="1800" dirty="0"/>
          </a:p>
          <a:p>
            <a:pPr lvl="0"/>
            <a:r>
              <a:rPr lang="en-MY" sz="1800" dirty="0"/>
              <a:t>Loaded the initial cleaned API data (dataset_part_1.csv).</a:t>
            </a:r>
          </a:p>
          <a:p>
            <a:pPr lvl="0"/>
            <a:r>
              <a:rPr lang="en-MY" sz="1800" dirty="0"/>
              <a:t>Performed EDA to calculate launch occurrences per site and landing outcomes.</a:t>
            </a:r>
          </a:p>
          <a:p>
            <a:pPr lvl="0"/>
            <a:r>
              <a:rPr lang="en-MY" sz="1800" dirty="0"/>
              <a:t>Created a binary target variable, Class, where 1 represents a successful landing and 0 represents a failure.</a:t>
            </a:r>
          </a:p>
          <a:p>
            <a:pPr lvl="0"/>
            <a:r>
              <a:rPr lang="en-MY" sz="1800" dirty="0"/>
              <a:t>Determined the baseline landing success rate (66.7%).</a:t>
            </a:r>
          </a:p>
          <a:p>
            <a:pPr lvl="0"/>
            <a:r>
              <a:rPr lang="en-MY" sz="1800" dirty="0"/>
              <a:t>Exported the finalized feature set as dataset_part_2.csv.</a:t>
            </a:r>
          </a:p>
          <a:p>
            <a:r>
              <a:rPr lang="en-US" sz="1800" dirty="0">
                <a:solidFill>
                  <a:schemeClr val="accent3">
                    <a:lumMod val="25000"/>
                  </a:schemeClr>
                </a:solidFill>
                <a:latin typeface="Abadi" panose="020B0604020104020204" pitchFamily="34" charset="0"/>
              </a:rPr>
              <a:t>GITHUB URL: https://github.com/shadowdragon-arch/API-Lab.git</a:t>
            </a:r>
            <a:endParaRPr lang="en-US" sz="1800" dirty="0"/>
          </a:p>
          <a:p>
            <a:pPr marL="0" indent="0">
              <a:buNone/>
            </a:pPr>
            <a:endParaRPr lang="en-US" sz="1800" dirty="0"/>
          </a:p>
          <a:p>
            <a:endParaRPr lang="en-US" sz="1800"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pic>
        <p:nvPicPr>
          <p:cNvPr id="3" name="Picture 2">
            <a:extLst>
              <a:ext uri="{FF2B5EF4-FFF2-40B4-BE49-F238E27FC236}">
                <a16:creationId xmlns:a16="http://schemas.microsoft.com/office/drawing/2014/main" id="{48E9D2C2-FE0B-6E0C-5C18-67E198191B81}"/>
              </a:ext>
            </a:extLst>
          </p:cNvPr>
          <p:cNvPicPr>
            <a:picLocks noChangeAspect="1"/>
          </p:cNvPicPr>
          <p:nvPr/>
        </p:nvPicPr>
        <p:blipFill>
          <a:blip r:embed="rId3"/>
          <a:stretch>
            <a:fillRect/>
          </a:stretch>
        </p:blipFill>
        <p:spPr>
          <a:xfrm>
            <a:off x="8638652" y="1295084"/>
            <a:ext cx="3570732" cy="4023360"/>
          </a:xfrm>
          <a:prstGeom prst="rect">
            <a:avLst/>
          </a:prstGeom>
        </p:spPr>
      </p:pic>
    </p:spTree>
    <p:extLst>
      <p:ext uri="{BB962C8B-B14F-4D97-AF65-F5344CB8AC3E}">
        <p14:creationId xmlns:p14="http://schemas.microsoft.com/office/powerpoint/2010/main" val="2987552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marL="0" indent="0">
              <a:buNone/>
            </a:pPr>
            <a:r>
              <a:rPr lang="en-MY" sz="2000" b="1" dirty="0"/>
              <a:t>Summary of Charts Plotted &amp; Their Purpose:</a:t>
            </a:r>
            <a:endParaRPr lang="en-MY" sz="2000" dirty="0"/>
          </a:p>
          <a:p>
            <a:pPr lvl="0"/>
            <a:r>
              <a:rPr lang="en-MY" sz="2000" b="1" dirty="0"/>
              <a:t>Scatter Plots (Flight Number vs. Launch Site / Payload Mass):</a:t>
            </a:r>
            <a:r>
              <a:rPr lang="en-MY" sz="2000" dirty="0"/>
              <a:t> Used to identify correlations between experience (flight number), payload mass, and the choice of launch site, highlighting how these factors relate to landing success (Class).</a:t>
            </a:r>
          </a:p>
          <a:p>
            <a:pPr lvl="0"/>
            <a:r>
              <a:rPr lang="en-MY" sz="2000" b="1" dirty="0"/>
              <a:t>Bar Chart (Success Rate by Orbit Type):</a:t>
            </a:r>
            <a:r>
              <a:rPr lang="en-MY" sz="2000" dirty="0"/>
              <a:t> Used to compare the average landing success rate across different target orbits (e.g., LEO, GTO, SSO), revealing which orbits are easiest or hardest to land from.</a:t>
            </a:r>
          </a:p>
          <a:p>
            <a:pPr lvl="0"/>
            <a:r>
              <a:rPr lang="en-MY" sz="2000" b="1" dirty="0"/>
              <a:t>Line Chart (Success Rate over Years):</a:t>
            </a:r>
            <a:r>
              <a:rPr lang="en-MY" sz="2000" dirty="0"/>
              <a:t> Used to visualize the trend of SpaceX's landing success over time, demonstrating how success rates improved significantly as the company gained operational experience from 2013 onwards.</a:t>
            </a:r>
          </a:p>
          <a:p>
            <a:r>
              <a:rPr lang="en-MY" sz="2000" b="1" dirty="0"/>
              <a:t>GitHub URL: </a:t>
            </a:r>
            <a:r>
              <a:rPr lang="en-MY" sz="2000" dirty="0"/>
              <a:t>https://github.com/shadowdragon-arch/API-Lab.git</a:t>
            </a:r>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79971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06575"/>
            <a:ext cx="9745589" cy="4351338"/>
          </a:xfrm>
          <a:prstGeom prst="rect">
            <a:avLst/>
          </a:prstGeom>
        </p:spPr>
        <p:txBody>
          <a:bodyPr lIns="91440" tIns="45720" rIns="91440" bIns="45720" anchor="t"/>
          <a:lstStyle/>
          <a:p>
            <a:pPr marL="0" indent="0">
              <a:buNone/>
            </a:pPr>
            <a:r>
              <a:rPr lang="en-MY" sz="2000" b="1" dirty="0"/>
              <a:t>Summary of SQL Queries Performed:</a:t>
            </a:r>
            <a:endParaRPr lang="en-MY" sz="2000" dirty="0"/>
          </a:p>
          <a:p>
            <a:pPr lvl="0"/>
            <a:r>
              <a:rPr lang="en-MY" sz="2000" b="1" dirty="0"/>
              <a:t>Identified Launch Sites:</a:t>
            </a:r>
            <a:r>
              <a:rPr lang="en-MY" sz="2000" dirty="0"/>
              <a:t> Queried the dataset to find all unique launch sites to understand facility distribution.</a:t>
            </a:r>
          </a:p>
          <a:p>
            <a:pPr lvl="0"/>
            <a:r>
              <a:rPr lang="en-MY" sz="2000" b="1" dirty="0"/>
              <a:t>Filtered Specific Missions:</a:t>
            </a:r>
            <a:r>
              <a:rPr lang="en-MY" sz="2000" dirty="0"/>
              <a:t> Selected records for specific customers (e.g., NASA) and payload mass ranges to </a:t>
            </a:r>
            <a:r>
              <a:rPr lang="en-MY" sz="2000" dirty="0" err="1"/>
              <a:t>analyze</a:t>
            </a:r>
            <a:r>
              <a:rPr lang="en-MY" sz="2000" dirty="0"/>
              <a:t> mission profiles.</a:t>
            </a:r>
          </a:p>
          <a:p>
            <a:pPr lvl="0"/>
            <a:r>
              <a:rPr lang="en-MY" sz="2000" b="1" dirty="0"/>
              <a:t>Aggregated Payload Data:</a:t>
            </a:r>
            <a:r>
              <a:rPr lang="en-MY" sz="2000" dirty="0"/>
              <a:t> Calculated the total and average payload mass carried by specific booster versions (e.g., F9 v1.1).</a:t>
            </a:r>
          </a:p>
          <a:p>
            <a:pPr lvl="0"/>
            <a:r>
              <a:rPr lang="en-MY" sz="2000" b="1" dirty="0"/>
              <a:t>Extracted Key Milestones:</a:t>
            </a:r>
            <a:r>
              <a:rPr lang="en-MY" sz="2000" dirty="0"/>
              <a:t> Used the MIN(Date) function combined with filtering to find the exact date of the first successful landing on a ground pad.</a:t>
            </a:r>
          </a:p>
          <a:p>
            <a:pPr lvl="0"/>
            <a:r>
              <a:rPr lang="en-MY" sz="2000" b="1" dirty="0"/>
              <a:t>Grouped &amp; Ranked Outcomes:</a:t>
            </a:r>
            <a:r>
              <a:rPr lang="en-MY" sz="2000" dirty="0"/>
              <a:t> Counted the frequency of various landing outcomes and grouped them by launch site and booster version to evaluate success patterns over time.</a:t>
            </a:r>
          </a:p>
          <a:p>
            <a:r>
              <a:rPr lang="en-MY" sz="2000" b="1" dirty="0"/>
              <a:t>GitHub URL: </a:t>
            </a:r>
            <a:r>
              <a:rPr lang="en-MY" sz="2000" dirty="0"/>
              <a:t>https://github.com/shadowdragon-arch/API-Lab.git</a:t>
            </a:r>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fontScale="92500" lnSpcReduction="20000"/>
          </a:bodyPr>
          <a:lstStyle/>
          <a:p>
            <a:pPr marL="0" indent="0">
              <a:buNone/>
            </a:pPr>
            <a:r>
              <a:rPr lang="en-MY" sz="2400" b="1" dirty="0"/>
              <a:t>Summary of Map Objects Created:</a:t>
            </a:r>
            <a:endParaRPr lang="en-MY" sz="2400" dirty="0"/>
          </a:p>
          <a:p>
            <a:pPr lvl="0"/>
            <a:r>
              <a:rPr lang="en-MY" sz="2400" b="1" dirty="0"/>
              <a:t>Markers &amp; </a:t>
            </a:r>
            <a:r>
              <a:rPr lang="en-MY" sz="2400" b="1" dirty="0" err="1"/>
              <a:t>MarkerClusters</a:t>
            </a:r>
            <a:r>
              <a:rPr lang="en-MY" sz="2400" b="1" dirty="0"/>
              <a:t>:</a:t>
            </a:r>
            <a:r>
              <a:rPr lang="en-MY" sz="2400" dirty="0"/>
              <a:t> Added </a:t>
            </a:r>
            <a:r>
              <a:rPr lang="en-MY" dirty="0" err="1"/>
              <a:t>folium.Marker</a:t>
            </a:r>
            <a:r>
              <a:rPr lang="en-MY" sz="2400" dirty="0"/>
              <a:t> to pinpoint launch sites and nearby points of interest (cities, highways, coastlines). Used </a:t>
            </a:r>
            <a:r>
              <a:rPr lang="en-MY" dirty="0" err="1"/>
              <a:t>MarkerCluster</a:t>
            </a:r>
            <a:r>
              <a:rPr lang="en-MY" sz="2400" dirty="0"/>
              <a:t> to group historical success/failure records at each site cleanly.</a:t>
            </a:r>
          </a:p>
          <a:p>
            <a:pPr lvl="0"/>
            <a:r>
              <a:rPr lang="en-MY" sz="2400" b="1" dirty="0"/>
              <a:t>Circles:</a:t>
            </a:r>
            <a:r>
              <a:rPr lang="en-MY" sz="2400" dirty="0"/>
              <a:t> Added </a:t>
            </a:r>
            <a:r>
              <a:rPr lang="en-MY" dirty="0" err="1"/>
              <a:t>folium.Circle</a:t>
            </a:r>
            <a:r>
              <a:rPr lang="en-MY" sz="2400" dirty="0"/>
              <a:t> to visually highlight the launch pad areas and </a:t>
            </a:r>
            <a:r>
              <a:rPr lang="en-MY" sz="2400" dirty="0" err="1"/>
              <a:t>color-code</a:t>
            </a:r>
            <a:r>
              <a:rPr lang="en-MY" sz="2400" dirty="0"/>
              <a:t> successful vs. failed landing attempts.</a:t>
            </a:r>
          </a:p>
          <a:p>
            <a:pPr lvl="0"/>
            <a:r>
              <a:rPr lang="en-MY" sz="2400" b="1" dirty="0" err="1"/>
              <a:t>PolyLines</a:t>
            </a:r>
            <a:r>
              <a:rPr lang="en-MY" sz="2400" b="1" dirty="0"/>
              <a:t>:</a:t>
            </a:r>
            <a:r>
              <a:rPr lang="en-MY" sz="2400" dirty="0"/>
              <a:t> Added </a:t>
            </a:r>
            <a:r>
              <a:rPr lang="en-MY" dirty="0" err="1"/>
              <a:t>folium.PolyLine</a:t>
            </a:r>
            <a:r>
              <a:rPr lang="en-MY" sz="2400" dirty="0"/>
              <a:t> to draw visible distance lines between the launch sites and their closest geographic features.</a:t>
            </a:r>
          </a:p>
          <a:p>
            <a:pPr marL="0" indent="0">
              <a:buNone/>
            </a:pPr>
            <a:r>
              <a:rPr lang="en-MY" sz="2400" b="1" dirty="0"/>
              <a:t>Why These Objects Were Added:</a:t>
            </a:r>
            <a:endParaRPr lang="en-MY" sz="2400" dirty="0"/>
          </a:p>
          <a:p>
            <a:pPr lvl="0"/>
            <a:r>
              <a:rPr lang="en-MY" sz="2400" dirty="0"/>
              <a:t>These objects were added to perform a spatial analysis. By visualizing the map, we can clearly see the geographic patterns and logistical decisions behind SpaceX's site selection (e.g., measuring exact distances to infrastructure and safe zones).</a:t>
            </a:r>
          </a:p>
          <a:p>
            <a:pPr marL="0" indent="0">
              <a:buNone/>
            </a:pPr>
            <a:r>
              <a:rPr lang="en-MY" sz="2400" b="1" dirty="0"/>
              <a:t>GitHub URL: </a:t>
            </a:r>
            <a:r>
              <a:rPr lang="en-MY" sz="2400" dirty="0"/>
              <a:t>https://github.com/shadowdragon-arch/API-Lab.git</a:t>
            </a:r>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fontScale="85000" lnSpcReduction="10000"/>
          </a:bodyPr>
          <a:lstStyle/>
          <a:p>
            <a:r>
              <a:rPr lang="en-MY" sz="2400" b="1" dirty="0"/>
              <a:t>Summary of Plots, Graphs, and Interactions Added:</a:t>
            </a:r>
            <a:endParaRPr lang="en-MY" sz="2400" dirty="0"/>
          </a:p>
          <a:p>
            <a:pPr lvl="0"/>
            <a:r>
              <a:rPr lang="en-MY" sz="2400" b="1" dirty="0"/>
              <a:t>Interactions:</a:t>
            </a:r>
            <a:r>
              <a:rPr lang="en-MY" sz="2400" dirty="0"/>
              <a:t> Added a Dropdown menu to select specific launch sites (or 'All Sites') and a Range Slider to select specific payload mass ranges (0 to 10,000 kg).</a:t>
            </a:r>
          </a:p>
          <a:p>
            <a:pPr lvl="0"/>
            <a:r>
              <a:rPr lang="en-MY" sz="2400" b="1" dirty="0"/>
              <a:t>Plots/Graphs:</a:t>
            </a:r>
            <a:r>
              <a:rPr lang="en-MY" sz="2400" dirty="0"/>
              <a:t> Added an interactive Pie Chart and a Scatter Plot that dynamically update based on the user's input from the dropdown and slider.</a:t>
            </a:r>
          </a:p>
          <a:p>
            <a:r>
              <a:rPr lang="en-MY" sz="2400" b="1" dirty="0"/>
              <a:t>Why These Plots and Interactions Were Added:</a:t>
            </a:r>
            <a:endParaRPr lang="en-MY" sz="2400" dirty="0"/>
          </a:p>
          <a:p>
            <a:pPr lvl="0"/>
            <a:r>
              <a:rPr lang="en-MY" sz="2400" b="1" dirty="0"/>
              <a:t>Dropdown &amp; Pie Chart:</a:t>
            </a:r>
            <a:r>
              <a:rPr lang="en-MY" sz="2400" dirty="0"/>
              <a:t> The dropdown allows users to drill down into specific locations. The pie chart was added to quickly visualize the overall contribution of each site to total successful launches, or to see the exact success-to-failure ratio for an individual site.</a:t>
            </a:r>
          </a:p>
          <a:p>
            <a:pPr lvl="0"/>
            <a:r>
              <a:rPr lang="en-MY" sz="2400" b="1" dirty="0"/>
              <a:t>Range Slider &amp; Scatter Plot:</a:t>
            </a:r>
            <a:r>
              <a:rPr lang="en-MY" sz="2400" dirty="0"/>
              <a:t> The slider lets users test different weight constraints. The scatter plot (</a:t>
            </a:r>
            <a:r>
              <a:rPr lang="en-MY" sz="2400" dirty="0" err="1"/>
              <a:t>colored</a:t>
            </a:r>
            <a:r>
              <a:rPr lang="en-MY" sz="2400" dirty="0"/>
              <a:t> by Booster Version) was added to uncover correlations—specifically, whether heavier or lighter payloads affect the success rate, and which booster versions handle those payloads best.</a:t>
            </a:r>
          </a:p>
          <a:p>
            <a:r>
              <a:rPr lang="en-MY" sz="2400" b="1" dirty="0"/>
              <a:t>GitHub URL: </a:t>
            </a:r>
            <a:r>
              <a:rPr lang="en-MY" sz="2400" dirty="0"/>
              <a:t>https://github.com/shadowdragon-arch/API-Lab.git</a:t>
            </a:r>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lvl="0"/>
            <a:r>
              <a:rPr lang="en-MY" sz="2400" b="1" dirty="0"/>
              <a:t>Exploratory Data Analysis (EDA):</a:t>
            </a:r>
            <a:r>
              <a:rPr lang="en-MY" sz="2400" dirty="0"/>
              <a:t> Include the scatter plots or bar charts generated during your analysis (such as </a:t>
            </a:r>
            <a:r>
              <a:rPr lang="en-MY" sz="2400" b="1" dirty="0"/>
              <a:t>Flight Number vs. Launch Site</a:t>
            </a:r>
            <a:r>
              <a:rPr lang="en-MY" sz="2400" dirty="0"/>
              <a:t> or </a:t>
            </a:r>
            <a:r>
              <a:rPr lang="en-MY" sz="2400" b="1" dirty="0"/>
              <a:t>Payload Mass vs. Orbit/Class</a:t>
            </a:r>
            <a:r>
              <a:rPr lang="en-MY" sz="2400" dirty="0"/>
              <a:t>) and the Folium map screenshot showing launch site locations.</a:t>
            </a:r>
          </a:p>
          <a:p>
            <a:pPr lvl="0"/>
            <a:r>
              <a:rPr lang="en-MY" sz="2400" b="1" dirty="0"/>
              <a:t>Interactive Analytics Demo:</a:t>
            </a:r>
            <a:r>
              <a:rPr lang="en-MY" sz="2400" dirty="0"/>
              <a:t> Include screenshots of your </a:t>
            </a:r>
            <a:r>
              <a:rPr lang="en-MY" sz="2400" b="1" dirty="0" err="1"/>
              <a:t>Plotly</a:t>
            </a:r>
            <a:r>
              <a:rPr lang="en-MY" sz="2400" b="1" dirty="0"/>
              <a:t> Dash interactive dashboard</a:t>
            </a:r>
            <a:r>
              <a:rPr lang="en-MY" sz="2400" dirty="0"/>
              <a:t>, highlighting the dropdown filters for launch sites and payload range sliders.</a:t>
            </a:r>
          </a:p>
          <a:p>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5254875" cy="16216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MY" dirty="0">
                <a:solidFill>
                  <a:schemeClr val="tx1"/>
                </a:solidFill>
              </a:rPr>
              <a:t>All models achieved approximately </a:t>
            </a:r>
            <a:r>
              <a:rPr lang="en-MY" b="1" dirty="0">
                <a:solidFill>
                  <a:schemeClr val="tx1"/>
                </a:solidFill>
              </a:rPr>
              <a:t>83.33%</a:t>
            </a:r>
            <a:r>
              <a:rPr lang="en-MY" dirty="0">
                <a:solidFill>
                  <a:schemeClr val="tx1"/>
                </a:solidFill>
              </a:rPr>
              <a:t> accuracy on the test set, with each sharing similar confusion matrix </a:t>
            </a:r>
            <a:r>
              <a:rPr lang="en-MY" dirty="0" err="1">
                <a:solidFill>
                  <a:schemeClr val="tx1"/>
                </a:solidFill>
              </a:rPr>
              <a:t>behavior</a:t>
            </a:r>
            <a:r>
              <a:rPr lang="en-MY" dirty="0">
                <a:solidFill>
                  <a:schemeClr val="tx1"/>
                </a:solidFill>
              </a:rPr>
              <a:t> (identifying successful landings accurately, with a few false positives on failed landings due to small sample size).</a:t>
            </a:r>
            <a:endParaRPr lang="en-US" dirty="0">
              <a:solidFill>
                <a:schemeClr val="tx1"/>
              </a:solidFill>
            </a:endParaRPr>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17</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pic>
        <p:nvPicPr>
          <p:cNvPr id="2" name="Picture 1">
            <a:extLst>
              <a:ext uri="{FF2B5EF4-FFF2-40B4-BE49-F238E27FC236}">
                <a16:creationId xmlns:a16="http://schemas.microsoft.com/office/drawing/2014/main" id="{0FBDD6C5-23BF-8C35-41FA-2B808FEE231E}"/>
              </a:ext>
            </a:extLst>
          </p:cNvPr>
          <p:cNvPicPr>
            <a:picLocks noChangeAspect="1"/>
          </p:cNvPicPr>
          <p:nvPr/>
        </p:nvPicPr>
        <p:blipFill>
          <a:blip r:embed="rId4"/>
          <a:stretch>
            <a:fillRect/>
          </a:stretch>
        </p:blipFill>
        <p:spPr>
          <a:xfrm>
            <a:off x="6650287" y="1642055"/>
            <a:ext cx="2508287" cy="2153341"/>
          </a:xfrm>
          <a:prstGeom prst="rect">
            <a:avLst/>
          </a:prstGeom>
        </p:spPr>
      </p:pic>
      <p:pic>
        <p:nvPicPr>
          <p:cNvPr id="3" name="Picture 2">
            <a:extLst>
              <a:ext uri="{FF2B5EF4-FFF2-40B4-BE49-F238E27FC236}">
                <a16:creationId xmlns:a16="http://schemas.microsoft.com/office/drawing/2014/main" id="{07DF7DEE-C6B3-EB17-7C57-2D47DAAB5526}"/>
              </a:ext>
            </a:extLst>
          </p:cNvPr>
          <p:cNvPicPr>
            <a:picLocks noChangeAspect="1"/>
          </p:cNvPicPr>
          <p:nvPr/>
        </p:nvPicPr>
        <p:blipFill>
          <a:blip r:embed="rId4"/>
          <a:stretch>
            <a:fillRect/>
          </a:stretch>
        </p:blipFill>
        <p:spPr>
          <a:xfrm>
            <a:off x="9158574" y="1642055"/>
            <a:ext cx="2508288" cy="2153341"/>
          </a:xfrm>
          <a:prstGeom prst="rect">
            <a:avLst/>
          </a:prstGeom>
        </p:spPr>
      </p:pic>
      <p:pic>
        <p:nvPicPr>
          <p:cNvPr id="5" name="Picture 4">
            <a:extLst>
              <a:ext uri="{FF2B5EF4-FFF2-40B4-BE49-F238E27FC236}">
                <a16:creationId xmlns:a16="http://schemas.microsoft.com/office/drawing/2014/main" id="{4FFEF3CD-FC82-A648-4674-E042FB85919C}"/>
              </a:ext>
            </a:extLst>
          </p:cNvPr>
          <p:cNvPicPr>
            <a:picLocks noChangeAspect="1"/>
          </p:cNvPicPr>
          <p:nvPr/>
        </p:nvPicPr>
        <p:blipFill>
          <a:blip r:embed="rId4"/>
          <a:stretch>
            <a:fillRect/>
          </a:stretch>
        </p:blipFill>
        <p:spPr>
          <a:xfrm>
            <a:off x="6650286" y="3795395"/>
            <a:ext cx="2597789" cy="2230177"/>
          </a:xfrm>
          <a:prstGeom prst="rect">
            <a:avLst/>
          </a:prstGeom>
        </p:spPr>
      </p:pic>
      <p:pic>
        <p:nvPicPr>
          <p:cNvPr id="6" name="Picture 5">
            <a:extLst>
              <a:ext uri="{FF2B5EF4-FFF2-40B4-BE49-F238E27FC236}">
                <a16:creationId xmlns:a16="http://schemas.microsoft.com/office/drawing/2014/main" id="{71BF2AA1-338B-AAAF-EF88-DBB71E21D2AF}"/>
              </a:ext>
            </a:extLst>
          </p:cNvPr>
          <p:cNvPicPr>
            <a:picLocks noChangeAspect="1"/>
          </p:cNvPicPr>
          <p:nvPr/>
        </p:nvPicPr>
        <p:blipFill>
          <a:blip r:embed="rId4"/>
          <a:stretch>
            <a:fillRect/>
          </a:stretch>
        </p:blipFill>
        <p:spPr>
          <a:xfrm>
            <a:off x="9256320" y="3795395"/>
            <a:ext cx="2419462" cy="2230178"/>
          </a:xfrm>
          <a:prstGeom prst="rect">
            <a:avLst/>
          </a:prstGeom>
        </p:spPr>
      </p:pic>
      <p:sp>
        <p:nvSpPr>
          <p:cNvPr id="10" name="TextBox 9">
            <a:extLst>
              <a:ext uri="{FF2B5EF4-FFF2-40B4-BE49-F238E27FC236}">
                <a16:creationId xmlns:a16="http://schemas.microsoft.com/office/drawing/2014/main" id="{52251395-E63A-6625-A413-235880FA725C}"/>
              </a:ext>
            </a:extLst>
          </p:cNvPr>
          <p:cNvSpPr txBox="1"/>
          <p:nvPr/>
        </p:nvSpPr>
        <p:spPr>
          <a:xfrm>
            <a:off x="660400" y="4991228"/>
            <a:ext cx="6096000" cy="1200329"/>
          </a:xfrm>
          <a:prstGeom prst="rect">
            <a:avLst/>
          </a:prstGeom>
          <a:noFill/>
        </p:spPr>
        <p:txBody>
          <a:bodyPr wrap="square">
            <a:spAutoFit/>
          </a:bodyPr>
          <a:lstStyle/>
          <a:p>
            <a:r>
              <a:rPr lang="en-MY" sz="2400" b="1" dirty="0"/>
              <a:t>GitHub URL: </a:t>
            </a:r>
            <a:r>
              <a:rPr lang="en-MY" sz="2400" dirty="0"/>
              <a:t>https://github.com/shadowdragon-arch/API-Lab.git</a:t>
            </a:r>
          </a:p>
        </p:txBody>
      </p:sp>
    </p:spTree>
    <p:extLst>
      <p:ext uri="{BB962C8B-B14F-4D97-AF65-F5344CB8AC3E}">
        <p14:creationId xmlns:p14="http://schemas.microsoft.com/office/powerpoint/2010/main" val="321008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1702" y="3764280"/>
            <a:ext cx="10942778" cy="3811588"/>
          </a:xfrm>
          <a:prstGeom prst="rect">
            <a:avLst/>
          </a:prstGeom>
        </p:spPr>
        <p:txBody>
          <a:bodyPr>
            <a:normAutofit/>
          </a:bodyPr>
          <a:lstStyle/>
          <a:p>
            <a:pPr marL="0" indent="0">
              <a:buNone/>
            </a:pPr>
            <a:r>
              <a:rPr lang="en-MY" sz="2000" b="1" dirty="0"/>
              <a:t>Key Findings &amp; Explanation:</a:t>
            </a:r>
            <a:endParaRPr lang="en-MY" sz="2000" dirty="0"/>
          </a:p>
          <a:p>
            <a:pPr lvl="0"/>
            <a:r>
              <a:rPr lang="en-MY" sz="2000" b="1" dirty="0"/>
              <a:t>CCAFS SLC 40</a:t>
            </a:r>
            <a:r>
              <a:rPr lang="en-MY" sz="2000" dirty="0"/>
              <a:t> was the primary launch site used during early missions (Flight Numbers 1 to ~25), showing a higher rate of landing failures (Class 0). </a:t>
            </a:r>
          </a:p>
          <a:p>
            <a:pPr lvl="0"/>
            <a:r>
              <a:rPr lang="en-MY" sz="2000" dirty="0"/>
              <a:t>As flight numbers progressed, launches diversified to </a:t>
            </a:r>
            <a:r>
              <a:rPr lang="en-MY" sz="2000" b="1" dirty="0"/>
              <a:t>VAFB SLC 4E</a:t>
            </a:r>
            <a:r>
              <a:rPr lang="en-MY" sz="2000" dirty="0"/>
              <a:t> and </a:t>
            </a:r>
            <a:r>
              <a:rPr lang="en-MY" sz="2000" b="1" dirty="0"/>
              <a:t>KSC LC 39A</a:t>
            </a:r>
            <a:r>
              <a:rPr lang="en-MY" sz="2000" dirty="0"/>
              <a:t>, coinciding with significant improvements in landing recovery success rates (Class 1). </a:t>
            </a:r>
          </a:p>
          <a:p>
            <a:pPr lvl="0"/>
            <a:r>
              <a:rPr lang="en-MY" sz="2000" dirty="0"/>
              <a:t>Higher flight numbers strongly correlate with successful first-stage landings across all launch sites due to technological maturity and booster design upgrades (Block 5). </a:t>
            </a: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6" name="Picture 5">
            <a:extLst>
              <a:ext uri="{FF2B5EF4-FFF2-40B4-BE49-F238E27FC236}">
                <a16:creationId xmlns:a16="http://schemas.microsoft.com/office/drawing/2014/main" id="{F6BBB424-B9F8-4574-B93C-94F30AAD315B}"/>
              </a:ext>
            </a:extLst>
          </p:cNvPr>
          <p:cNvPicPr>
            <a:picLocks noChangeAspect="1"/>
          </p:cNvPicPr>
          <p:nvPr/>
        </p:nvPicPr>
        <p:blipFill>
          <a:blip r:embed="rId3"/>
          <a:stretch>
            <a:fillRect/>
          </a:stretch>
        </p:blipFill>
        <p:spPr>
          <a:xfrm>
            <a:off x="0" y="1087699"/>
            <a:ext cx="12192000" cy="2389005"/>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569636" y="4030637"/>
            <a:ext cx="11236283" cy="3811588"/>
          </a:xfrm>
          <a:prstGeom prst="rect">
            <a:avLst/>
          </a:prstGeom>
        </p:spPr>
        <p:txBody>
          <a:bodyPr>
            <a:normAutofit/>
          </a:bodyPr>
          <a:lstStyle/>
          <a:p>
            <a:pPr marL="0" indent="0">
              <a:buNone/>
            </a:pPr>
            <a:r>
              <a:rPr lang="en-MY" sz="2000" b="1" dirty="0"/>
              <a:t>Key Findings &amp; Explanation:</a:t>
            </a:r>
            <a:endParaRPr lang="en-MY" sz="2000" dirty="0"/>
          </a:p>
          <a:p>
            <a:pPr lvl="0"/>
            <a:r>
              <a:rPr lang="en-MY" sz="2000" dirty="0"/>
              <a:t>Heavy payload missions (&gt;8,000 kg, especially Starlink constellation launches ~15,600 kg) are predominantly handled by </a:t>
            </a:r>
            <a:r>
              <a:rPr lang="en-MY" sz="2000" b="1" dirty="0"/>
              <a:t>CCAFS SLC 40</a:t>
            </a:r>
            <a:r>
              <a:rPr lang="en-MY" sz="2000" dirty="0"/>
              <a:t> and </a:t>
            </a:r>
            <a:r>
              <a:rPr lang="en-MY" sz="2000" b="1" dirty="0"/>
              <a:t>KSC LC 39A</a:t>
            </a:r>
            <a:r>
              <a:rPr lang="en-MY" sz="2000" dirty="0"/>
              <a:t>, both demonstrating high landing success rates even under maximum payload weights. </a:t>
            </a:r>
          </a:p>
          <a:p>
            <a:pPr lvl="0"/>
            <a:r>
              <a:rPr lang="en-MY" sz="2000" b="1" dirty="0"/>
              <a:t>VAFB SLC 4E</a:t>
            </a:r>
            <a:r>
              <a:rPr lang="en-MY" sz="2000" dirty="0"/>
              <a:t> handles polar orbit missions with payloads mostly concentrated under 5,000 kg or around 9,600 kg (Iridium missions), with very consistent recovery performance. </a:t>
            </a:r>
          </a:p>
          <a:p>
            <a:pPr lvl="0"/>
            <a:r>
              <a:rPr lang="en-MY" sz="2000" dirty="0"/>
              <a:t>There are no heavy payloads (&gt;10,000 kg) launched from VAFB SLC 4E. </a:t>
            </a: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pic>
        <p:nvPicPr>
          <p:cNvPr id="6" name="Picture 5">
            <a:extLst>
              <a:ext uri="{FF2B5EF4-FFF2-40B4-BE49-F238E27FC236}">
                <a16:creationId xmlns:a16="http://schemas.microsoft.com/office/drawing/2014/main" id="{66B790A4-1F47-7191-8F23-BA84369EF64E}"/>
              </a:ext>
            </a:extLst>
          </p:cNvPr>
          <p:cNvPicPr>
            <a:picLocks noChangeAspect="1"/>
          </p:cNvPicPr>
          <p:nvPr/>
        </p:nvPicPr>
        <p:blipFill>
          <a:blip r:embed="rId3"/>
          <a:stretch>
            <a:fillRect/>
          </a:stretch>
        </p:blipFill>
        <p:spPr>
          <a:xfrm>
            <a:off x="0" y="1442017"/>
            <a:ext cx="12192000" cy="2389005"/>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0" y="1470661"/>
            <a:ext cx="5011029" cy="3811588"/>
          </a:xfrm>
          <a:prstGeom prst="rect">
            <a:avLst/>
          </a:prstGeom>
        </p:spPr>
        <p:txBody>
          <a:bodyPr>
            <a:noAutofit/>
          </a:bodyPr>
          <a:lstStyle/>
          <a:p>
            <a:pPr marL="0" indent="0">
              <a:buNone/>
            </a:pPr>
            <a:r>
              <a:rPr lang="en-MY" sz="1800" b="1" dirty="0"/>
              <a:t>Key Findings &amp; Explanation:</a:t>
            </a:r>
            <a:endParaRPr lang="en-MY" sz="1800" dirty="0"/>
          </a:p>
          <a:p>
            <a:pPr lvl="0"/>
            <a:r>
              <a:rPr lang="en-MY" sz="1800" dirty="0"/>
              <a:t>High-altitude and specialized orbits including </a:t>
            </a:r>
            <a:r>
              <a:rPr lang="en-MY" sz="1800" b="1" dirty="0"/>
              <a:t>ES-L1, GEO, HEO, and SSO</a:t>
            </a:r>
            <a:r>
              <a:rPr lang="en-MY" sz="1800" dirty="0"/>
              <a:t> achieved a </a:t>
            </a:r>
            <a:r>
              <a:rPr lang="en-MY" sz="1800" b="1" dirty="0"/>
              <a:t>100% success rate</a:t>
            </a:r>
            <a:r>
              <a:rPr lang="en-MY" sz="1800" dirty="0"/>
              <a:t> for first-stage booster landings. </a:t>
            </a:r>
          </a:p>
          <a:p>
            <a:pPr lvl="0"/>
            <a:r>
              <a:rPr lang="en-MY" sz="1800" dirty="0"/>
              <a:t>Lower Earth orbit missions like </a:t>
            </a:r>
            <a:r>
              <a:rPr lang="en-MY" sz="1800" b="1" dirty="0"/>
              <a:t>VLEO (~85%)</a:t>
            </a:r>
            <a:r>
              <a:rPr lang="en-MY" sz="1800" dirty="0"/>
              <a:t>, </a:t>
            </a:r>
            <a:r>
              <a:rPr lang="en-MY" sz="1800" b="1" dirty="0"/>
              <a:t>LEO (~71%)</a:t>
            </a:r>
            <a:r>
              <a:rPr lang="en-MY" sz="1800" dirty="0"/>
              <a:t>, and </a:t>
            </a:r>
            <a:r>
              <a:rPr lang="en-MY" sz="1800" b="1" dirty="0"/>
              <a:t>ISS (~62%)</a:t>
            </a:r>
            <a:r>
              <a:rPr lang="en-MY" sz="1800" dirty="0"/>
              <a:t> maintain high success rates, benefiting from shorter booster return trajectories. </a:t>
            </a:r>
          </a:p>
          <a:p>
            <a:pPr lvl="0"/>
            <a:r>
              <a:rPr lang="en-MY" sz="1800" b="1" dirty="0"/>
              <a:t>GTO (Geostationary Transfer Orbit)</a:t>
            </a:r>
            <a:r>
              <a:rPr lang="en-MY" sz="1800" dirty="0"/>
              <a:t> exhibits a moderate success rate (~52%) because the high velocity and extreme thermal re-entry reduce the fuel margin available for landing </a:t>
            </a:r>
            <a:r>
              <a:rPr lang="en-MY" sz="1800" dirty="0" err="1"/>
              <a:t>maneuvers</a:t>
            </a:r>
            <a:r>
              <a:rPr lang="en-MY" sz="1800" dirty="0"/>
              <a:t>. </a:t>
            </a:r>
          </a:p>
          <a:p>
            <a:pPr lvl="0"/>
            <a:r>
              <a:rPr lang="en-MY" sz="1800" b="1" dirty="0"/>
              <a:t>SO (Sun-synchronous test orbit)</a:t>
            </a:r>
            <a:r>
              <a:rPr lang="en-MY" sz="1800" dirty="0"/>
              <a:t> recorded a 0% success rate due to mission failure during the early testing phase. </a:t>
            </a: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Picture 5">
            <a:extLst>
              <a:ext uri="{FF2B5EF4-FFF2-40B4-BE49-F238E27FC236}">
                <a16:creationId xmlns:a16="http://schemas.microsoft.com/office/drawing/2014/main" id="{12CFA2B6-FFCF-429E-272F-83180C576296}"/>
              </a:ext>
            </a:extLst>
          </p:cNvPr>
          <p:cNvPicPr>
            <a:picLocks noChangeAspect="1"/>
          </p:cNvPicPr>
          <p:nvPr/>
        </p:nvPicPr>
        <p:blipFill>
          <a:blip r:embed="rId3"/>
          <a:stretch>
            <a:fillRect/>
          </a:stretch>
        </p:blipFill>
        <p:spPr>
          <a:xfrm>
            <a:off x="5964164" y="1470661"/>
            <a:ext cx="5457825" cy="4171950"/>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34028" y="3975550"/>
            <a:ext cx="11046069" cy="3811588"/>
          </a:xfrm>
          <a:prstGeom prst="rect">
            <a:avLst/>
          </a:prstGeom>
        </p:spPr>
        <p:txBody>
          <a:bodyPr>
            <a:normAutofit/>
          </a:bodyPr>
          <a:lstStyle/>
          <a:p>
            <a:pPr marL="0" indent="0">
              <a:buNone/>
            </a:pPr>
            <a:r>
              <a:rPr lang="en-MY" sz="2000" b="1" dirty="0"/>
              <a:t>Key Findings &amp; Explanation:</a:t>
            </a:r>
            <a:endParaRPr lang="en-MY" sz="2000" dirty="0"/>
          </a:p>
          <a:p>
            <a:pPr lvl="0"/>
            <a:r>
              <a:rPr lang="en-MY" sz="2000" dirty="0"/>
              <a:t>Early flight missions (Flights 1 to 30) were concentrated on </a:t>
            </a:r>
            <a:r>
              <a:rPr lang="en-MY" sz="2000" b="1" dirty="0"/>
              <a:t>LEO, ISS, and GTO</a:t>
            </a:r>
            <a:r>
              <a:rPr lang="en-MY" sz="2000" dirty="0"/>
              <a:t> orbits with varying landing success. </a:t>
            </a:r>
          </a:p>
          <a:p>
            <a:pPr lvl="0"/>
            <a:r>
              <a:rPr lang="en-MY" sz="2000" dirty="0"/>
              <a:t>Later flight numbers (Flights &gt;60) shifted heavily towards </a:t>
            </a:r>
            <a:r>
              <a:rPr lang="en-MY" sz="2000" b="1" dirty="0"/>
              <a:t>VLEO</a:t>
            </a:r>
            <a:r>
              <a:rPr lang="en-MY" sz="2000" dirty="0"/>
              <a:t> (Very Low Earth Orbit for Starlink satellites), where landing outcomes show near-perfect success rates (Class 1). </a:t>
            </a:r>
          </a:p>
          <a:p>
            <a:pPr lvl="0"/>
            <a:r>
              <a:rPr lang="en-MY" sz="2000" dirty="0"/>
              <a:t>Over time, booster reusability expanded across multiple orbital profiles without compromising mission success.</a:t>
            </a: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a:extLst>
              <a:ext uri="{FF2B5EF4-FFF2-40B4-BE49-F238E27FC236}">
                <a16:creationId xmlns:a16="http://schemas.microsoft.com/office/drawing/2014/main" id="{146323AD-D53E-89AE-34F8-40DEC491E110}"/>
              </a:ext>
            </a:extLst>
          </p:cNvPr>
          <p:cNvPicPr>
            <a:picLocks noChangeAspect="1"/>
          </p:cNvPicPr>
          <p:nvPr/>
        </p:nvPicPr>
        <p:blipFill>
          <a:blip r:embed="rId3"/>
          <a:stretch>
            <a:fillRect/>
          </a:stretch>
        </p:blipFill>
        <p:spPr>
          <a:xfrm>
            <a:off x="0" y="1460429"/>
            <a:ext cx="12192000" cy="2392822"/>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8340" y="3963194"/>
            <a:ext cx="10946300" cy="3811588"/>
          </a:xfrm>
          <a:prstGeom prst="rect">
            <a:avLst/>
          </a:prstGeom>
        </p:spPr>
        <p:txBody>
          <a:bodyPr>
            <a:normAutofit/>
          </a:bodyPr>
          <a:lstStyle/>
          <a:p>
            <a:pPr marL="0" indent="0">
              <a:buNone/>
            </a:pPr>
            <a:r>
              <a:rPr lang="en-MY" sz="2000" b="1" dirty="0"/>
              <a:t>Key Findings &amp; Explanation:</a:t>
            </a:r>
            <a:endParaRPr lang="en-MY" sz="2000" dirty="0"/>
          </a:p>
          <a:p>
            <a:pPr lvl="0"/>
            <a:r>
              <a:rPr lang="en-MY" sz="2000" dirty="0"/>
              <a:t>Heavier payloads (&gt;13,000 kg to ~15,600 kg) are exclusively deployed into </a:t>
            </a:r>
            <a:r>
              <a:rPr lang="en-MY" sz="2000" b="1" dirty="0"/>
              <a:t>VLEO</a:t>
            </a:r>
            <a:r>
              <a:rPr lang="en-MY" sz="2000" dirty="0"/>
              <a:t> orbits and demonstrate a near-flawless booster landing success rate. </a:t>
            </a:r>
          </a:p>
          <a:p>
            <a:pPr lvl="0"/>
            <a:r>
              <a:rPr lang="en-MY" sz="2000" dirty="0"/>
              <a:t>Payloads sent to </a:t>
            </a:r>
            <a:r>
              <a:rPr lang="en-MY" sz="2000" b="1" dirty="0"/>
              <a:t>ISS</a:t>
            </a:r>
            <a:r>
              <a:rPr lang="en-MY" sz="2000" dirty="0"/>
              <a:t> (2,000 kg – 5,000 kg) and </a:t>
            </a:r>
            <a:r>
              <a:rPr lang="en-MY" sz="2000" b="1" dirty="0"/>
              <a:t>LEO</a:t>
            </a:r>
            <a:r>
              <a:rPr lang="en-MY" sz="2000" dirty="0"/>
              <a:t> also maintain strong recovery records. </a:t>
            </a:r>
          </a:p>
          <a:p>
            <a:pPr lvl="0"/>
            <a:r>
              <a:rPr lang="en-MY" sz="2000" dirty="0"/>
              <a:t>In </a:t>
            </a:r>
            <a:r>
              <a:rPr lang="en-MY" sz="2000" b="1" dirty="0"/>
              <a:t>GTO</a:t>
            </a:r>
            <a:r>
              <a:rPr lang="en-MY" sz="2000" dirty="0"/>
              <a:t>, payloads range from 3,000 kg to 7,000 kg where both successful and unsuccessful landings coexist, indicating payload mass combined with orbital velocity creates significant recovery constraints.</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6" name="Picture 5">
            <a:extLst>
              <a:ext uri="{FF2B5EF4-FFF2-40B4-BE49-F238E27FC236}">
                <a16:creationId xmlns:a16="http://schemas.microsoft.com/office/drawing/2014/main" id="{E6F5C395-78FA-4495-5449-ABBAB280480D}"/>
              </a:ext>
            </a:extLst>
          </p:cNvPr>
          <p:cNvPicPr>
            <a:picLocks noChangeAspect="1"/>
          </p:cNvPicPr>
          <p:nvPr/>
        </p:nvPicPr>
        <p:blipFill>
          <a:blip r:embed="rId3"/>
          <a:stretch>
            <a:fillRect/>
          </a:stretch>
        </p:blipFill>
        <p:spPr>
          <a:xfrm>
            <a:off x="0" y="1399469"/>
            <a:ext cx="12192000" cy="2392822"/>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81771" y="1735455"/>
            <a:ext cx="3932238" cy="3811588"/>
          </a:xfrm>
          <a:prstGeom prst="rect">
            <a:avLst/>
          </a:prstGeom>
        </p:spPr>
        <p:txBody>
          <a:bodyPr>
            <a:normAutofit fontScale="62500" lnSpcReduction="20000"/>
          </a:bodyPr>
          <a:lstStyle/>
          <a:p>
            <a:pPr marL="0" indent="0">
              <a:buNone/>
            </a:pPr>
            <a:r>
              <a:rPr lang="en-MY" b="1" dirty="0"/>
              <a:t>Key Findings &amp; Explanation:</a:t>
            </a:r>
            <a:endParaRPr lang="en-MY" dirty="0"/>
          </a:p>
          <a:p>
            <a:pPr lvl="0"/>
            <a:r>
              <a:rPr lang="en-MY" dirty="0"/>
              <a:t>From </a:t>
            </a:r>
            <a:r>
              <a:rPr lang="en-MY" b="1" dirty="0"/>
              <a:t>2010 to 2013</a:t>
            </a:r>
            <a:r>
              <a:rPr lang="en-MY" dirty="0"/>
              <a:t>, the landing success rate remained at </a:t>
            </a:r>
            <a:r>
              <a:rPr lang="en-MY" b="1" dirty="0"/>
              <a:t>0%</a:t>
            </a:r>
            <a:r>
              <a:rPr lang="en-MY" dirty="0"/>
              <a:t> as SpaceX was conducting early vehicle tests and uncontrolled ocean landings. </a:t>
            </a:r>
          </a:p>
          <a:p>
            <a:pPr lvl="0"/>
            <a:r>
              <a:rPr lang="en-MY" dirty="0"/>
              <a:t>The success rate began rising sharply in </a:t>
            </a:r>
            <a:r>
              <a:rPr lang="en-MY" b="1" dirty="0"/>
              <a:t>2015</a:t>
            </a:r>
            <a:r>
              <a:rPr lang="en-MY" dirty="0"/>
              <a:t> following the first successful landing attempts, reaching ~62% in 2016 and nearly ~80% in 2017. </a:t>
            </a:r>
          </a:p>
          <a:p>
            <a:pPr lvl="0"/>
            <a:r>
              <a:rPr lang="en-MY" dirty="0"/>
              <a:t>Despite a minor dip in 2018 during transition testing, the recovery rate achieved over </a:t>
            </a:r>
            <a:r>
              <a:rPr lang="en-MY" b="1" dirty="0"/>
              <a:t>85–90% by 2019–2020</a:t>
            </a:r>
            <a:r>
              <a:rPr lang="en-MY" dirty="0"/>
              <a:t>, driven by the mature deployment of flight-proven </a:t>
            </a:r>
            <a:r>
              <a:rPr lang="en-MY" b="1" dirty="0"/>
              <a:t>Block 5</a:t>
            </a:r>
            <a:r>
              <a:rPr lang="en-MY" dirty="0"/>
              <a:t> boosters.</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10" name="Picture 9">
            <a:extLst>
              <a:ext uri="{FF2B5EF4-FFF2-40B4-BE49-F238E27FC236}">
                <a16:creationId xmlns:a16="http://schemas.microsoft.com/office/drawing/2014/main" id="{DED85B6F-596A-7E4D-8076-D987270B4E1F}"/>
              </a:ext>
            </a:extLst>
          </p:cNvPr>
          <p:cNvPicPr>
            <a:picLocks noChangeAspect="1"/>
          </p:cNvPicPr>
          <p:nvPr/>
        </p:nvPicPr>
        <p:blipFill>
          <a:blip r:embed="rId3"/>
          <a:stretch>
            <a:fillRect/>
          </a:stretch>
        </p:blipFill>
        <p:spPr>
          <a:xfrm>
            <a:off x="5567680" y="1735455"/>
            <a:ext cx="6096000" cy="3387090"/>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21360" y="2578633"/>
            <a:ext cx="9745589" cy="4351338"/>
          </a:xfrm>
          <a:prstGeom prst="rect">
            <a:avLst/>
          </a:prstGeom>
        </p:spPr>
        <p:txBody>
          <a:bodyPr>
            <a:normAutofit/>
          </a:bodyPr>
          <a:lstStyle/>
          <a:p>
            <a:pPr>
              <a:spcBef>
                <a:spcPts val="1400"/>
              </a:spcBef>
            </a:pPr>
            <a:r>
              <a:rPr lang="en-MY" sz="2400" dirty="0"/>
              <a:t>Identifies the four unique SpaceX launch complexes used for Falcon 9 missions, located at Cape Canaveral (Florida) and Vandenberg Space Force Base (California). </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
        <p:nvSpPr>
          <p:cNvPr id="6" name="TextBox 5">
            <a:extLst>
              <a:ext uri="{FF2B5EF4-FFF2-40B4-BE49-F238E27FC236}">
                <a16:creationId xmlns:a16="http://schemas.microsoft.com/office/drawing/2014/main" id="{AB342362-B02D-FFDF-90D2-A03DDAF60D16}"/>
              </a:ext>
            </a:extLst>
          </p:cNvPr>
          <p:cNvSpPr txBox="1"/>
          <p:nvPr/>
        </p:nvSpPr>
        <p:spPr>
          <a:xfrm>
            <a:off x="1005840" y="1561923"/>
            <a:ext cx="6096000" cy="369332"/>
          </a:xfrm>
          <a:prstGeom prst="rect">
            <a:avLst/>
          </a:prstGeom>
          <a:noFill/>
        </p:spPr>
        <p:txBody>
          <a:bodyPr wrap="square">
            <a:spAutoFit/>
          </a:bodyPr>
          <a:lstStyle/>
          <a:p>
            <a:r>
              <a:rPr lang="en-MY" dirty="0"/>
              <a:t>SELECT DISTINCT "</a:t>
            </a:r>
            <a:r>
              <a:rPr lang="en-MY" dirty="0" err="1"/>
              <a:t>Launch_Site</a:t>
            </a:r>
            <a:r>
              <a:rPr lang="en-MY" dirty="0"/>
              <a:t>" FROM SPACEXTABLE;</a:t>
            </a:r>
          </a:p>
        </p:txBody>
      </p:sp>
      <p:sp>
        <p:nvSpPr>
          <p:cNvPr id="8" name="TextBox 7">
            <a:extLst>
              <a:ext uri="{FF2B5EF4-FFF2-40B4-BE49-F238E27FC236}">
                <a16:creationId xmlns:a16="http://schemas.microsoft.com/office/drawing/2014/main" id="{1A6E2538-1695-15D8-9C16-EAB08C1D5666}"/>
              </a:ext>
            </a:extLst>
          </p:cNvPr>
          <p:cNvSpPr txBox="1"/>
          <p:nvPr/>
        </p:nvSpPr>
        <p:spPr>
          <a:xfrm>
            <a:off x="1005840" y="2018000"/>
            <a:ext cx="6096000" cy="646331"/>
          </a:xfrm>
          <a:prstGeom prst="rect">
            <a:avLst/>
          </a:prstGeom>
          <a:noFill/>
        </p:spPr>
        <p:txBody>
          <a:bodyPr wrap="square">
            <a:spAutoFit/>
          </a:bodyPr>
          <a:lstStyle/>
          <a:p>
            <a:r>
              <a:rPr lang="en-MY" dirty="0">
                <a:latin typeface="+mn-lt"/>
              </a:rPr>
              <a:t>CCAFS LC-40</a:t>
            </a:r>
            <a:r>
              <a:rPr lang="en-MY" dirty="0"/>
              <a:t>, </a:t>
            </a:r>
            <a:r>
              <a:rPr lang="en-MY" dirty="0">
                <a:latin typeface="+mn-lt"/>
              </a:rPr>
              <a:t>VAFB SLC-4E</a:t>
            </a:r>
            <a:r>
              <a:rPr lang="en-MY" dirty="0"/>
              <a:t>, </a:t>
            </a:r>
            <a:r>
              <a:rPr lang="en-MY" dirty="0">
                <a:latin typeface="+mn-lt"/>
              </a:rPr>
              <a:t>KSC LC-39A</a:t>
            </a:r>
            <a:r>
              <a:rPr lang="en-MY" dirty="0"/>
              <a:t>, </a:t>
            </a:r>
            <a:r>
              <a:rPr lang="en-MY" dirty="0">
                <a:latin typeface="+mn-lt"/>
              </a:rPr>
              <a:t>CCAFS SLC-40</a:t>
            </a:r>
            <a:endParaRPr lang="en-MY" dirty="0"/>
          </a:p>
        </p:txBody>
      </p:sp>
    </p:spTree>
    <p:extLst>
      <p:ext uri="{BB962C8B-B14F-4D97-AF65-F5344CB8AC3E}">
        <p14:creationId xmlns:p14="http://schemas.microsoft.com/office/powerpoint/2010/main" val="2727850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34028" y="5318207"/>
            <a:ext cx="9745589" cy="4351338"/>
          </a:xfrm>
          <a:prstGeom prst="rect">
            <a:avLst/>
          </a:prstGeom>
        </p:spPr>
        <p:txBody>
          <a:bodyPr>
            <a:normAutofit/>
          </a:bodyPr>
          <a:lstStyle/>
          <a:p>
            <a:pPr>
              <a:spcBef>
                <a:spcPts val="1400"/>
              </a:spcBef>
            </a:pPr>
            <a:r>
              <a:rPr lang="en-MY" sz="2400" dirty="0"/>
              <a:t>Retrieves the first 5 historical launch records originating from Cape Canaveral Air Force Station (</a:t>
            </a:r>
            <a:r>
              <a:rPr lang="en-MY" dirty="0"/>
              <a:t>CCAFS LC-40</a:t>
            </a:r>
            <a:r>
              <a:rPr lang="en-MY" sz="2400" dirty="0"/>
              <a:t>), representing SpaceX's earliest orbital flights from Florida.</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sp>
        <p:nvSpPr>
          <p:cNvPr id="6" name="TextBox 5">
            <a:extLst>
              <a:ext uri="{FF2B5EF4-FFF2-40B4-BE49-F238E27FC236}">
                <a16:creationId xmlns:a16="http://schemas.microsoft.com/office/drawing/2014/main" id="{6B59633D-4347-3019-CB75-EA10356E2E1B}"/>
              </a:ext>
            </a:extLst>
          </p:cNvPr>
          <p:cNvSpPr txBox="1"/>
          <p:nvPr/>
        </p:nvSpPr>
        <p:spPr>
          <a:xfrm>
            <a:off x="1036320" y="1677015"/>
            <a:ext cx="6096000" cy="923330"/>
          </a:xfrm>
          <a:prstGeom prst="rect">
            <a:avLst/>
          </a:prstGeom>
          <a:noFill/>
        </p:spPr>
        <p:txBody>
          <a:bodyPr wrap="square">
            <a:spAutoFit/>
          </a:bodyPr>
          <a:lstStyle/>
          <a:p>
            <a:r>
              <a:rPr lang="en-MY" dirty="0"/>
              <a:t>SELECT * FROM SPACEXTABLE </a:t>
            </a:r>
          </a:p>
          <a:p>
            <a:r>
              <a:rPr lang="en-MY" dirty="0"/>
              <a:t>WHERE "</a:t>
            </a:r>
            <a:r>
              <a:rPr lang="en-MY" dirty="0" err="1"/>
              <a:t>Launch_Site</a:t>
            </a:r>
            <a:r>
              <a:rPr lang="en-MY" dirty="0"/>
              <a:t>" LIKE 'CCA%' </a:t>
            </a:r>
          </a:p>
          <a:p>
            <a:r>
              <a:rPr lang="en-MY" dirty="0"/>
              <a:t>LIMIT 5;</a:t>
            </a:r>
          </a:p>
        </p:txBody>
      </p:sp>
      <p:pic>
        <p:nvPicPr>
          <p:cNvPr id="8" name="Picture 7">
            <a:extLst>
              <a:ext uri="{FF2B5EF4-FFF2-40B4-BE49-F238E27FC236}">
                <a16:creationId xmlns:a16="http://schemas.microsoft.com/office/drawing/2014/main" id="{CA983AE0-0E9B-9D45-35E6-980A77DF8860}"/>
              </a:ext>
            </a:extLst>
          </p:cNvPr>
          <p:cNvPicPr>
            <a:picLocks noChangeAspect="1"/>
          </p:cNvPicPr>
          <p:nvPr/>
        </p:nvPicPr>
        <p:blipFill>
          <a:blip r:embed="rId3"/>
          <a:stretch>
            <a:fillRect/>
          </a:stretch>
        </p:blipFill>
        <p:spPr>
          <a:xfrm>
            <a:off x="895296" y="2600345"/>
            <a:ext cx="10265030" cy="2568163"/>
          </a:xfrm>
          <a:prstGeom prst="rect">
            <a:avLst/>
          </a:prstGeom>
        </p:spPr>
      </p:pic>
    </p:spTree>
    <p:extLst>
      <p:ext uri="{BB962C8B-B14F-4D97-AF65-F5344CB8AC3E}">
        <p14:creationId xmlns:p14="http://schemas.microsoft.com/office/powerpoint/2010/main" val="1794738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4050723"/>
            <a:ext cx="9745589" cy="4351338"/>
          </a:xfrm>
          <a:prstGeom prst="rect">
            <a:avLst/>
          </a:prstGeom>
        </p:spPr>
        <p:txBody>
          <a:bodyPr>
            <a:normAutofit/>
          </a:bodyPr>
          <a:lstStyle/>
          <a:p>
            <a:pPr>
              <a:spcBef>
                <a:spcPts val="1400"/>
              </a:spcBef>
            </a:pPr>
            <a:r>
              <a:rPr lang="en-MY" sz="2400" dirty="0"/>
              <a:t>Calculates the total cargo mass delivered by Falcon 9 boosters under NASA's Commercial Resupply Services (CRS) contract missions to the International Space Station.</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graphicFrame>
        <p:nvGraphicFramePr>
          <p:cNvPr id="2" name="Table 1">
            <a:extLst>
              <a:ext uri="{FF2B5EF4-FFF2-40B4-BE49-F238E27FC236}">
                <a16:creationId xmlns:a16="http://schemas.microsoft.com/office/drawing/2014/main" id="{71D9C8FE-3AE0-84E5-06B0-E71D2F11A9F8}"/>
              </a:ext>
            </a:extLst>
          </p:cNvPr>
          <p:cNvGraphicFramePr>
            <a:graphicFrameLocks noGrp="1"/>
          </p:cNvGraphicFramePr>
          <p:nvPr>
            <p:extLst>
              <p:ext uri="{D42A27DB-BD31-4B8C-83A1-F6EECF244321}">
                <p14:modId xmlns:p14="http://schemas.microsoft.com/office/powerpoint/2010/main" val="3945648872"/>
              </p:ext>
            </p:extLst>
          </p:nvPr>
        </p:nvGraphicFramePr>
        <p:xfrm>
          <a:off x="1219200" y="2660015"/>
          <a:ext cx="3403600" cy="1057910"/>
        </p:xfrm>
        <a:graphic>
          <a:graphicData uri="http://schemas.openxmlformats.org/drawingml/2006/table">
            <a:tbl>
              <a:tblPr>
                <a:tableStyleId>{5C22544A-7EE6-4342-B048-85BDC9FD1C3A}</a:tableStyleId>
              </a:tblPr>
              <a:tblGrid>
                <a:gridCol w="3403600">
                  <a:extLst>
                    <a:ext uri="{9D8B030D-6E8A-4147-A177-3AD203B41FA5}">
                      <a16:colId xmlns:a16="http://schemas.microsoft.com/office/drawing/2014/main" val="3110312895"/>
                    </a:ext>
                  </a:extLst>
                </a:gridCol>
              </a:tblGrid>
              <a:tr h="528955">
                <a:tc>
                  <a:txBody>
                    <a:bodyPr/>
                    <a:lstStyle/>
                    <a:p>
                      <a:pPr marL="0" marR="0" algn="r" fontAlgn="ctr">
                        <a:buNone/>
                      </a:pPr>
                      <a:r>
                        <a:rPr lang="en-MY" sz="975">
                          <a:effectLst/>
                        </a:rPr>
                        <a:t>Total_Payload_Mass</a:t>
                      </a:r>
                      <a:endParaRPr lang="en-MY" sz="975" b="1" i="0">
                        <a:effectLst/>
                        <a:latin typeface="system-ui"/>
                      </a:endParaRPr>
                    </a:p>
                  </a:txBody>
                  <a:tcPr anchor="ctr"/>
                </a:tc>
                <a:extLst>
                  <a:ext uri="{0D108BD9-81ED-4DB2-BD59-A6C34878D82A}">
                    <a16:rowId xmlns:a16="http://schemas.microsoft.com/office/drawing/2014/main" val="3246380569"/>
                  </a:ext>
                </a:extLst>
              </a:tr>
              <a:tr h="528955">
                <a:tc>
                  <a:txBody>
                    <a:bodyPr/>
                    <a:lstStyle/>
                    <a:p>
                      <a:pPr marL="0" marR="0" algn="r" fontAlgn="ctr">
                        <a:buNone/>
                      </a:pPr>
                      <a:r>
                        <a:rPr lang="en-MY" sz="975" dirty="0">
                          <a:effectLst/>
                        </a:rPr>
                        <a:t>48213</a:t>
                      </a:r>
                      <a:endParaRPr lang="en-MY" sz="975" b="0" i="0" dirty="0">
                        <a:effectLst/>
                        <a:latin typeface="system-ui"/>
                      </a:endParaRPr>
                    </a:p>
                  </a:txBody>
                  <a:tcPr anchor="ctr"/>
                </a:tc>
                <a:extLst>
                  <a:ext uri="{0D108BD9-81ED-4DB2-BD59-A6C34878D82A}">
                    <a16:rowId xmlns:a16="http://schemas.microsoft.com/office/drawing/2014/main" val="2754956585"/>
                  </a:ext>
                </a:extLst>
              </a:tr>
            </a:tbl>
          </a:graphicData>
        </a:graphic>
      </p:graphicFrame>
      <p:sp>
        <p:nvSpPr>
          <p:cNvPr id="7" name="TextBox 6">
            <a:extLst>
              <a:ext uri="{FF2B5EF4-FFF2-40B4-BE49-F238E27FC236}">
                <a16:creationId xmlns:a16="http://schemas.microsoft.com/office/drawing/2014/main" id="{C2D79F93-AF29-ABEA-298B-4C30007233BF}"/>
              </a:ext>
            </a:extLst>
          </p:cNvPr>
          <p:cNvSpPr txBox="1"/>
          <p:nvPr/>
        </p:nvSpPr>
        <p:spPr>
          <a:xfrm>
            <a:off x="1127760" y="1420497"/>
            <a:ext cx="6096000" cy="1200329"/>
          </a:xfrm>
          <a:prstGeom prst="rect">
            <a:avLst/>
          </a:prstGeom>
          <a:noFill/>
        </p:spPr>
        <p:txBody>
          <a:bodyPr wrap="square">
            <a:spAutoFit/>
          </a:bodyPr>
          <a:lstStyle/>
          <a:p>
            <a:r>
              <a:rPr lang="en-MY" dirty="0"/>
              <a:t>%%</a:t>
            </a:r>
            <a:r>
              <a:rPr lang="en-MY" dirty="0" err="1"/>
              <a:t>sql</a:t>
            </a:r>
            <a:endParaRPr lang="en-MY" dirty="0"/>
          </a:p>
          <a:p>
            <a:r>
              <a:rPr lang="en-MY" dirty="0"/>
              <a:t>SELECT SUM(PAYLOAD_MASS__KG_) AS </a:t>
            </a:r>
            <a:r>
              <a:rPr lang="en-MY" dirty="0" err="1"/>
              <a:t>Total_Payload_Mass</a:t>
            </a:r>
            <a:r>
              <a:rPr lang="en-MY" dirty="0"/>
              <a:t> </a:t>
            </a:r>
          </a:p>
          <a:p>
            <a:r>
              <a:rPr lang="en-MY" dirty="0"/>
              <a:t>FROM SPACEXTABLE </a:t>
            </a:r>
          </a:p>
          <a:p>
            <a:r>
              <a:rPr lang="en-MY" dirty="0"/>
              <a:t>WHERE Customer LIKE '%NASA (CRS)%';</a:t>
            </a:r>
          </a:p>
        </p:txBody>
      </p:sp>
    </p:spTree>
    <p:extLst>
      <p:ext uri="{BB962C8B-B14F-4D97-AF65-F5344CB8AC3E}">
        <p14:creationId xmlns:p14="http://schemas.microsoft.com/office/powerpoint/2010/main" val="4010014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973210" y="3776345"/>
            <a:ext cx="9745589" cy="4351338"/>
          </a:xfrm>
          <a:prstGeom prst="rect">
            <a:avLst/>
          </a:prstGeom>
        </p:spPr>
        <p:txBody>
          <a:bodyPr>
            <a:normAutofit/>
          </a:bodyPr>
          <a:lstStyle/>
          <a:p>
            <a:pPr>
              <a:spcBef>
                <a:spcPts val="1400"/>
              </a:spcBef>
            </a:pPr>
            <a:r>
              <a:rPr lang="en-MY" sz="2400" dirty="0"/>
              <a:t>Determines the baseline mean payload mass lifted by early-generation Falcon 9 v1.1 rocket variants. </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graphicFrame>
        <p:nvGraphicFramePr>
          <p:cNvPr id="2" name="Table 1">
            <a:extLst>
              <a:ext uri="{FF2B5EF4-FFF2-40B4-BE49-F238E27FC236}">
                <a16:creationId xmlns:a16="http://schemas.microsoft.com/office/drawing/2014/main" id="{01C6EBEB-46DA-0260-0A85-DF3ECB299B82}"/>
              </a:ext>
            </a:extLst>
          </p:cNvPr>
          <p:cNvGraphicFramePr>
            <a:graphicFrameLocks noGrp="1"/>
          </p:cNvGraphicFramePr>
          <p:nvPr>
            <p:extLst>
              <p:ext uri="{D42A27DB-BD31-4B8C-83A1-F6EECF244321}">
                <p14:modId xmlns:p14="http://schemas.microsoft.com/office/powerpoint/2010/main" val="476434612"/>
              </p:ext>
            </p:extLst>
          </p:nvPr>
        </p:nvGraphicFramePr>
        <p:xfrm>
          <a:off x="1257332" y="2380140"/>
          <a:ext cx="2743200" cy="1176496"/>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4161169253"/>
                    </a:ext>
                  </a:extLst>
                </a:gridCol>
              </a:tblGrid>
              <a:tr h="588248">
                <a:tc>
                  <a:txBody>
                    <a:bodyPr/>
                    <a:lstStyle/>
                    <a:p>
                      <a:pPr marL="0" marR="0" algn="r" fontAlgn="ctr">
                        <a:buNone/>
                      </a:pPr>
                      <a:r>
                        <a:rPr lang="en-MY" sz="975">
                          <a:effectLst/>
                        </a:rPr>
                        <a:t>Average_Payload_Mass</a:t>
                      </a:r>
                      <a:endParaRPr lang="en-MY" sz="975" b="1" i="0">
                        <a:effectLst/>
                        <a:latin typeface="system-ui"/>
                      </a:endParaRPr>
                    </a:p>
                  </a:txBody>
                  <a:tcPr anchor="ctr"/>
                </a:tc>
                <a:extLst>
                  <a:ext uri="{0D108BD9-81ED-4DB2-BD59-A6C34878D82A}">
                    <a16:rowId xmlns:a16="http://schemas.microsoft.com/office/drawing/2014/main" val="2587964475"/>
                  </a:ext>
                </a:extLst>
              </a:tr>
              <a:tr h="588248">
                <a:tc>
                  <a:txBody>
                    <a:bodyPr/>
                    <a:lstStyle/>
                    <a:p>
                      <a:pPr marL="0" marR="0" algn="r" fontAlgn="ctr">
                        <a:buNone/>
                      </a:pPr>
                      <a:r>
                        <a:rPr lang="en-MY" sz="975" dirty="0">
                          <a:effectLst/>
                        </a:rPr>
                        <a:t>2534.6666666666665</a:t>
                      </a:r>
                      <a:endParaRPr lang="en-MY" sz="975" b="0" i="0" dirty="0">
                        <a:effectLst/>
                        <a:latin typeface="system-ui"/>
                      </a:endParaRPr>
                    </a:p>
                  </a:txBody>
                  <a:tcPr anchor="ctr"/>
                </a:tc>
                <a:extLst>
                  <a:ext uri="{0D108BD9-81ED-4DB2-BD59-A6C34878D82A}">
                    <a16:rowId xmlns:a16="http://schemas.microsoft.com/office/drawing/2014/main" val="3783338336"/>
                  </a:ext>
                </a:extLst>
              </a:tr>
            </a:tbl>
          </a:graphicData>
        </a:graphic>
      </p:graphicFrame>
      <p:sp>
        <p:nvSpPr>
          <p:cNvPr id="7" name="TextBox 6">
            <a:extLst>
              <a:ext uri="{FF2B5EF4-FFF2-40B4-BE49-F238E27FC236}">
                <a16:creationId xmlns:a16="http://schemas.microsoft.com/office/drawing/2014/main" id="{F1E7C36D-80CF-D5F7-52CA-86EFD32BFD0E}"/>
              </a:ext>
            </a:extLst>
          </p:cNvPr>
          <p:cNvSpPr txBox="1"/>
          <p:nvPr/>
        </p:nvSpPr>
        <p:spPr>
          <a:xfrm>
            <a:off x="1178560" y="1456810"/>
            <a:ext cx="6096000" cy="923330"/>
          </a:xfrm>
          <a:prstGeom prst="rect">
            <a:avLst/>
          </a:prstGeom>
          <a:noFill/>
        </p:spPr>
        <p:txBody>
          <a:bodyPr wrap="square">
            <a:spAutoFit/>
          </a:bodyPr>
          <a:lstStyle/>
          <a:p>
            <a:r>
              <a:rPr lang="en-MY" dirty="0"/>
              <a:t>SELECT AVG(</a:t>
            </a:r>
            <a:r>
              <a:rPr lang="en-MY" dirty="0" err="1"/>
              <a:t>Payload_Mass__kg</a:t>
            </a:r>
            <a:r>
              <a:rPr lang="en-MY" dirty="0"/>
              <a:t>_) AS </a:t>
            </a:r>
            <a:r>
              <a:rPr lang="en-MY" dirty="0" err="1"/>
              <a:t>Average_Payload_Mass</a:t>
            </a:r>
            <a:r>
              <a:rPr lang="en-MY" dirty="0"/>
              <a:t> </a:t>
            </a:r>
          </a:p>
          <a:p>
            <a:r>
              <a:rPr lang="en-MY" dirty="0"/>
              <a:t>FROM SPACEXTABLE </a:t>
            </a:r>
          </a:p>
          <a:p>
            <a:r>
              <a:rPr lang="en-MY" dirty="0"/>
              <a:t>WHERE </a:t>
            </a:r>
            <a:r>
              <a:rPr lang="en-MY" dirty="0" err="1"/>
              <a:t>Booster_Version</a:t>
            </a:r>
            <a:r>
              <a:rPr lang="en-MY" dirty="0"/>
              <a:t> LIKE '%F9 v1.1%';</a:t>
            </a:r>
          </a:p>
        </p:txBody>
      </p:sp>
    </p:spTree>
    <p:extLst>
      <p:ext uri="{BB962C8B-B14F-4D97-AF65-F5344CB8AC3E}">
        <p14:creationId xmlns:p14="http://schemas.microsoft.com/office/powerpoint/2010/main" val="2735560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3756025"/>
            <a:ext cx="9745589" cy="4351338"/>
          </a:xfrm>
          <a:prstGeom prst="rect">
            <a:avLst/>
          </a:prstGeom>
        </p:spPr>
        <p:txBody>
          <a:bodyPr lIns="91440" tIns="45720" rIns="91440" bIns="45720" anchor="t">
            <a:normAutofit/>
          </a:bodyPr>
          <a:lstStyle/>
          <a:p>
            <a:pPr>
              <a:spcBef>
                <a:spcPts val="1400"/>
              </a:spcBef>
            </a:pPr>
            <a:r>
              <a:rPr lang="en-MY" sz="2400" dirty="0"/>
              <a:t>The historic milestone date when SpaceX accomplished its first-ever successful vertical touchdown of an orbital-class first-stage booster on a ground landing pad (Landing Zone 1).</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graphicFrame>
        <p:nvGraphicFramePr>
          <p:cNvPr id="2" name="Table 1">
            <a:extLst>
              <a:ext uri="{FF2B5EF4-FFF2-40B4-BE49-F238E27FC236}">
                <a16:creationId xmlns:a16="http://schemas.microsoft.com/office/drawing/2014/main" id="{0200CBC6-0880-07A4-726D-EF1310C756E7}"/>
              </a:ext>
            </a:extLst>
          </p:cNvPr>
          <p:cNvGraphicFramePr>
            <a:graphicFrameLocks noGrp="1"/>
          </p:cNvGraphicFramePr>
          <p:nvPr>
            <p:extLst>
              <p:ext uri="{D42A27DB-BD31-4B8C-83A1-F6EECF244321}">
                <p14:modId xmlns:p14="http://schemas.microsoft.com/office/powerpoint/2010/main" val="3629407483"/>
              </p:ext>
            </p:extLst>
          </p:nvPr>
        </p:nvGraphicFramePr>
        <p:xfrm>
          <a:off x="1074452" y="2457847"/>
          <a:ext cx="2959068" cy="1288256"/>
        </p:xfrm>
        <a:graphic>
          <a:graphicData uri="http://schemas.openxmlformats.org/drawingml/2006/table">
            <a:tbl>
              <a:tblPr>
                <a:tableStyleId>{5C22544A-7EE6-4342-B048-85BDC9FD1C3A}</a:tableStyleId>
              </a:tblPr>
              <a:tblGrid>
                <a:gridCol w="2959068">
                  <a:extLst>
                    <a:ext uri="{9D8B030D-6E8A-4147-A177-3AD203B41FA5}">
                      <a16:colId xmlns:a16="http://schemas.microsoft.com/office/drawing/2014/main" val="967399861"/>
                    </a:ext>
                  </a:extLst>
                </a:gridCol>
              </a:tblGrid>
              <a:tr h="644128">
                <a:tc>
                  <a:txBody>
                    <a:bodyPr/>
                    <a:lstStyle/>
                    <a:p>
                      <a:pPr marL="0" marR="0" algn="r" fontAlgn="ctr">
                        <a:buNone/>
                      </a:pPr>
                      <a:r>
                        <a:rPr lang="en-MY" sz="975" dirty="0" err="1">
                          <a:effectLst/>
                        </a:rPr>
                        <a:t>First_Successful_Ground_Pad_Landing</a:t>
                      </a:r>
                      <a:endParaRPr lang="en-MY" sz="975" b="1" i="0" dirty="0">
                        <a:effectLst/>
                        <a:latin typeface="system-ui"/>
                      </a:endParaRPr>
                    </a:p>
                  </a:txBody>
                  <a:tcPr anchor="ctr"/>
                </a:tc>
                <a:extLst>
                  <a:ext uri="{0D108BD9-81ED-4DB2-BD59-A6C34878D82A}">
                    <a16:rowId xmlns:a16="http://schemas.microsoft.com/office/drawing/2014/main" val="1685001232"/>
                  </a:ext>
                </a:extLst>
              </a:tr>
              <a:tr h="644128">
                <a:tc>
                  <a:txBody>
                    <a:bodyPr/>
                    <a:lstStyle/>
                    <a:p>
                      <a:pPr marL="0" marR="0" algn="r" fontAlgn="ctr">
                        <a:buNone/>
                      </a:pPr>
                      <a:r>
                        <a:rPr lang="en-MY" sz="975" dirty="0">
                          <a:effectLst/>
                        </a:rPr>
                        <a:t>2015-12-22</a:t>
                      </a:r>
                      <a:endParaRPr lang="en-MY" sz="975" b="0" i="0" dirty="0">
                        <a:effectLst/>
                        <a:latin typeface="system-ui"/>
                      </a:endParaRPr>
                    </a:p>
                  </a:txBody>
                  <a:tcPr anchor="ctr"/>
                </a:tc>
                <a:extLst>
                  <a:ext uri="{0D108BD9-81ED-4DB2-BD59-A6C34878D82A}">
                    <a16:rowId xmlns:a16="http://schemas.microsoft.com/office/drawing/2014/main" val="2958398813"/>
                  </a:ext>
                </a:extLst>
              </a:tr>
            </a:tbl>
          </a:graphicData>
        </a:graphic>
      </p:graphicFrame>
      <p:sp>
        <p:nvSpPr>
          <p:cNvPr id="7" name="TextBox 6">
            <a:extLst>
              <a:ext uri="{FF2B5EF4-FFF2-40B4-BE49-F238E27FC236}">
                <a16:creationId xmlns:a16="http://schemas.microsoft.com/office/drawing/2014/main" id="{822FEA71-B7B3-F19D-B7B1-1A7AD1DA403F}"/>
              </a:ext>
            </a:extLst>
          </p:cNvPr>
          <p:cNvSpPr txBox="1"/>
          <p:nvPr/>
        </p:nvSpPr>
        <p:spPr>
          <a:xfrm>
            <a:off x="985520" y="1498532"/>
            <a:ext cx="6096000" cy="923330"/>
          </a:xfrm>
          <a:prstGeom prst="rect">
            <a:avLst/>
          </a:prstGeom>
          <a:noFill/>
        </p:spPr>
        <p:txBody>
          <a:bodyPr wrap="square">
            <a:spAutoFit/>
          </a:bodyPr>
          <a:lstStyle/>
          <a:p>
            <a:r>
              <a:rPr lang="en-MY" dirty="0"/>
              <a:t>SELECT MIN(Date) AS </a:t>
            </a:r>
            <a:r>
              <a:rPr lang="en-MY" dirty="0" err="1"/>
              <a:t>First_Successful_Ground_Pad_Landing</a:t>
            </a:r>
            <a:r>
              <a:rPr lang="en-MY" dirty="0"/>
              <a:t> </a:t>
            </a:r>
          </a:p>
          <a:p>
            <a:r>
              <a:rPr lang="en-MY" dirty="0"/>
              <a:t>FROM SPACEXTABLE </a:t>
            </a:r>
          </a:p>
          <a:p>
            <a:r>
              <a:rPr lang="en-MY" dirty="0"/>
              <a:t>WHERE </a:t>
            </a:r>
            <a:r>
              <a:rPr lang="en-MY" dirty="0" err="1"/>
              <a:t>Landing_Outcome</a:t>
            </a:r>
            <a:r>
              <a:rPr lang="en-MY" dirty="0"/>
              <a:t> = 'Success (ground pad)';</a:t>
            </a:r>
          </a:p>
        </p:txBody>
      </p:sp>
    </p:spTree>
    <p:extLst>
      <p:ext uri="{BB962C8B-B14F-4D97-AF65-F5344CB8AC3E}">
        <p14:creationId xmlns:p14="http://schemas.microsoft.com/office/powerpoint/2010/main" val="1434679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34028" y="4880746"/>
            <a:ext cx="9745589" cy="4351338"/>
          </a:xfrm>
          <a:prstGeom prst="rect">
            <a:avLst/>
          </a:prstGeom>
        </p:spPr>
        <p:txBody>
          <a:bodyPr lIns="91440" tIns="45720" rIns="91440" bIns="45720" anchor="t">
            <a:normAutofit/>
          </a:bodyPr>
          <a:lstStyle/>
          <a:p>
            <a:pPr>
              <a:spcBef>
                <a:spcPts val="1400"/>
              </a:spcBef>
            </a:pPr>
            <a:r>
              <a:rPr lang="en-MY" sz="2400" dirty="0"/>
              <a:t>Identifies the Full Thrust (FT) booster versions capable of recovering autonomously on an Autonomous Spaceport Drone Ship (ASDS) while carrying medium-to-heavy satellite payloads. </a:t>
            </a: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graphicFrame>
        <p:nvGraphicFramePr>
          <p:cNvPr id="2" name="Table 1">
            <a:extLst>
              <a:ext uri="{FF2B5EF4-FFF2-40B4-BE49-F238E27FC236}">
                <a16:creationId xmlns:a16="http://schemas.microsoft.com/office/drawing/2014/main" id="{9FA96834-5079-21B6-08BD-2ADE83363603}"/>
              </a:ext>
            </a:extLst>
          </p:cNvPr>
          <p:cNvGraphicFramePr>
            <a:graphicFrameLocks noGrp="1"/>
          </p:cNvGraphicFramePr>
          <p:nvPr>
            <p:extLst>
              <p:ext uri="{D42A27DB-BD31-4B8C-83A1-F6EECF244321}">
                <p14:modId xmlns:p14="http://schemas.microsoft.com/office/powerpoint/2010/main" val="1486505462"/>
              </p:ext>
            </p:extLst>
          </p:nvPr>
        </p:nvGraphicFramePr>
        <p:xfrm>
          <a:off x="1107440" y="2928503"/>
          <a:ext cx="2326640" cy="1886430"/>
        </p:xfrm>
        <a:graphic>
          <a:graphicData uri="http://schemas.openxmlformats.org/drawingml/2006/table">
            <a:tbl>
              <a:tblPr>
                <a:tableStyleId>{5C22544A-7EE6-4342-B048-85BDC9FD1C3A}</a:tableStyleId>
              </a:tblPr>
              <a:tblGrid>
                <a:gridCol w="2326640">
                  <a:extLst>
                    <a:ext uri="{9D8B030D-6E8A-4147-A177-3AD203B41FA5}">
                      <a16:colId xmlns:a16="http://schemas.microsoft.com/office/drawing/2014/main" val="3789021043"/>
                    </a:ext>
                  </a:extLst>
                </a:gridCol>
              </a:tblGrid>
              <a:tr h="377286">
                <a:tc>
                  <a:txBody>
                    <a:bodyPr/>
                    <a:lstStyle/>
                    <a:p>
                      <a:pPr marL="0" marR="0" algn="r" fontAlgn="ctr">
                        <a:buNone/>
                      </a:pPr>
                      <a:r>
                        <a:rPr lang="en-MY" sz="975" dirty="0" err="1">
                          <a:effectLst/>
                        </a:rPr>
                        <a:t>Booster_Version</a:t>
                      </a:r>
                      <a:endParaRPr lang="en-MY" sz="975" b="1" i="0" dirty="0">
                        <a:effectLst/>
                        <a:latin typeface="system-ui"/>
                      </a:endParaRPr>
                    </a:p>
                  </a:txBody>
                  <a:tcPr anchor="ctr"/>
                </a:tc>
                <a:extLst>
                  <a:ext uri="{0D108BD9-81ED-4DB2-BD59-A6C34878D82A}">
                    <a16:rowId xmlns:a16="http://schemas.microsoft.com/office/drawing/2014/main" val="3309127325"/>
                  </a:ext>
                </a:extLst>
              </a:tr>
              <a:tr h="377286">
                <a:tc>
                  <a:txBody>
                    <a:bodyPr/>
                    <a:lstStyle/>
                    <a:p>
                      <a:pPr marL="0" marR="0" algn="r" fontAlgn="ctr">
                        <a:buNone/>
                      </a:pPr>
                      <a:r>
                        <a:rPr lang="en-MY" sz="975">
                          <a:effectLst/>
                        </a:rPr>
                        <a:t>F9 FT B1022</a:t>
                      </a:r>
                      <a:endParaRPr lang="en-MY" sz="975" b="0" i="0">
                        <a:effectLst/>
                        <a:latin typeface="system-ui"/>
                      </a:endParaRPr>
                    </a:p>
                  </a:txBody>
                  <a:tcPr anchor="ctr"/>
                </a:tc>
                <a:extLst>
                  <a:ext uri="{0D108BD9-81ED-4DB2-BD59-A6C34878D82A}">
                    <a16:rowId xmlns:a16="http://schemas.microsoft.com/office/drawing/2014/main" val="2147770952"/>
                  </a:ext>
                </a:extLst>
              </a:tr>
              <a:tr h="377286">
                <a:tc>
                  <a:txBody>
                    <a:bodyPr/>
                    <a:lstStyle/>
                    <a:p>
                      <a:pPr marL="0" marR="0" algn="r" fontAlgn="ctr">
                        <a:buNone/>
                      </a:pPr>
                      <a:r>
                        <a:rPr lang="en-MY" sz="975">
                          <a:effectLst/>
                        </a:rPr>
                        <a:t>F9 FT B1026</a:t>
                      </a:r>
                      <a:endParaRPr lang="en-MY" sz="975" b="0" i="0">
                        <a:effectLst/>
                        <a:latin typeface="system-ui"/>
                      </a:endParaRPr>
                    </a:p>
                  </a:txBody>
                  <a:tcPr anchor="ctr"/>
                </a:tc>
                <a:extLst>
                  <a:ext uri="{0D108BD9-81ED-4DB2-BD59-A6C34878D82A}">
                    <a16:rowId xmlns:a16="http://schemas.microsoft.com/office/drawing/2014/main" val="568867750"/>
                  </a:ext>
                </a:extLst>
              </a:tr>
              <a:tr h="377286">
                <a:tc>
                  <a:txBody>
                    <a:bodyPr/>
                    <a:lstStyle/>
                    <a:p>
                      <a:pPr marL="0" marR="0" algn="r" fontAlgn="ctr">
                        <a:buNone/>
                      </a:pPr>
                      <a:r>
                        <a:rPr lang="en-MY" sz="975" dirty="0">
                          <a:effectLst/>
                        </a:rPr>
                        <a:t>F9 FT B1021.2</a:t>
                      </a:r>
                      <a:endParaRPr lang="en-MY" sz="975" b="0" i="0" dirty="0">
                        <a:effectLst/>
                        <a:latin typeface="system-ui"/>
                      </a:endParaRPr>
                    </a:p>
                  </a:txBody>
                  <a:tcPr anchor="ctr"/>
                </a:tc>
                <a:extLst>
                  <a:ext uri="{0D108BD9-81ED-4DB2-BD59-A6C34878D82A}">
                    <a16:rowId xmlns:a16="http://schemas.microsoft.com/office/drawing/2014/main" val="3204274447"/>
                  </a:ext>
                </a:extLst>
              </a:tr>
              <a:tr h="377286">
                <a:tc>
                  <a:txBody>
                    <a:bodyPr/>
                    <a:lstStyle/>
                    <a:p>
                      <a:pPr marL="0" marR="0" algn="r" fontAlgn="ctr">
                        <a:buNone/>
                      </a:pPr>
                      <a:r>
                        <a:rPr lang="en-MY" sz="975" dirty="0">
                          <a:effectLst/>
                        </a:rPr>
                        <a:t>F9 FT B1031.2</a:t>
                      </a:r>
                      <a:endParaRPr lang="en-MY" sz="975" b="0" i="0" dirty="0">
                        <a:effectLst/>
                        <a:latin typeface="system-ui"/>
                      </a:endParaRPr>
                    </a:p>
                  </a:txBody>
                  <a:tcPr anchor="ctr"/>
                </a:tc>
                <a:extLst>
                  <a:ext uri="{0D108BD9-81ED-4DB2-BD59-A6C34878D82A}">
                    <a16:rowId xmlns:a16="http://schemas.microsoft.com/office/drawing/2014/main" val="2374469621"/>
                  </a:ext>
                </a:extLst>
              </a:tr>
            </a:tbl>
          </a:graphicData>
        </a:graphic>
      </p:graphicFrame>
      <p:sp>
        <p:nvSpPr>
          <p:cNvPr id="6" name="TextBox 5">
            <a:extLst>
              <a:ext uri="{FF2B5EF4-FFF2-40B4-BE49-F238E27FC236}">
                <a16:creationId xmlns:a16="http://schemas.microsoft.com/office/drawing/2014/main" id="{1D11908B-8366-5363-5DDC-9823E80BCE09}"/>
              </a:ext>
            </a:extLst>
          </p:cNvPr>
          <p:cNvSpPr txBox="1"/>
          <p:nvPr/>
        </p:nvSpPr>
        <p:spPr>
          <a:xfrm>
            <a:off x="863600" y="1451175"/>
            <a:ext cx="6096000" cy="1477328"/>
          </a:xfrm>
          <a:prstGeom prst="rect">
            <a:avLst/>
          </a:prstGeom>
          <a:noFill/>
        </p:spPr>
        <p:txBody>
          <a:bodyPr wrap="square">
            <a:spAutoFit/>
          </a:bodyPr>
          <a:lstStyle/>
          <a:p>
            <a:r>
              <a:rPr lang="en-MY" dirty="0"/>
              <a:t>SELECT </a:t>
            </a:r>
            <a:r>
              <a:rPr lang="en-MY" dirty="0" err="1"/>
              <a:t>Booster_Version</a:t>
            </a:r>
            <a:r>
              <a:rPr lang="en-MY" dirty="0"/>
              <a:t> </a:t>
            </a:r>
          </a:p>
          <a:p>
            <a:r>
              <a:rPr lang="en-MY" dirty="0"/>
              <a:t>FROM SPACEXTABLE </a:t>
            </a:r>
          </a:p>
          <a:p>
            <a:r>
              <a:rPr lang="en-MY" dirty="0"/>
              <a:t>WHERE </a:t>
            </a:r>
            <a:r>
              <a:rPr lang="en-MY" dirty="0" err="1"/>
              <a:t>Landing_Outcome</a:t>
            </a:r>
            <a:r>
              <a:rPr lang="en-MY" dirty="0"/>
              <a:t> = 'Success (drone ship)' </a:t>
            </a:r>
          </a:p>
          <a:p>
            <a:r>
              <a:rPr lang="en-MY" dirty="0"/>
              <a:t>  AND </a:t>
            </a:r>
            <a:r>
              <a:rPr lang="en-MY" dirty="0" err="1"/>
              <a:t>Payload_Mass__kg</a:t>
            </a:r>
            <a:r>
              <a:rPr lang="en-MY" dirty="0"/>
              <a:t>_ &gt; 4000 </a:t>
            </a:r>
          </a:p>
          <a:p>
            <a:r>
              <a:rPr lang="en-MY" dirty="0"/>
              <a:t>  AND </a:t>
            </a:r>
            <a:r>
              <a:rPr lang="en-MY" dirty="0" err="1"/>
              <a:t>Payload_Mass__kg</a:t>
            </a:r>
            <a:r>
              <a:rPr lang="en-MY" dirty="0"/>
              <a:t>_ &lt; 6000;</a:t>
            </a:r>
          </a:p>
        </p:txBody>
      </p:sp>
    </p:spTree>
    <p:extLst>
      <p:ext uri="{BB962C8B-B14F-4D97-AF65-F5344CB8AC3E}">
        <p14:creationId xmlns:p14="http://schemas.microsoft.com/office/powerpoint/2010/main" val="639399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4406265"/>
            <a:ext cx="9745589" cy="4351338"/>
          </a:xfrm>
          <a:prstGeom prst="rect">
            <a:avLst/>
          </a:prstGeom>
        </p:spPr>
        <p:txBody>
          <a:bodyPr>
            <a:normAutofit/>
          </a:bodyPr>
          <a:lstStyle/>
          <a:p>
            <a:pPr>
              <a:spcBef>
                <a:spcPts val="1400"/>
              </a:spcBef>
            </a:pPr>
            <a:r>
              <a:rPr lang="en-MY" sz="2400" dirty="0"/>
              <a:t>Shows an overall mission primary objective success rate exceeding 98%, underscoring extreme launch reliability despite experimental booster landing recovery attempts.</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graphicFrame>
        <p:nvGraphicFramePr>
          <p:cNvPr id="2" name="Table 1">
            <a:extLst>
              <a:ext uri="{FF2B5EF4-FFF2-40B4-BE49-F238E27FC236}">
                <a16:creationId xmlns:a16="http://schemas.microsoft.com/office/drawing/2014/main" id="{A3642AA5-2073-9AAB-C0AB-D3E08141B448}"/>
              </a:ext>
            </a:extLst>
          </p:cNvPr>
          <p:cNvGraphicFramePr>
            <a:graphicFrameLocks noGrp="1"/>
          </p:cNvGraphicFramePr>
          <p:nvPr>
            <p:extLst>
              <p:ext uri="{D42A27DB-BD31-4B8C-83A1-F6EECF244321}">
                <p14:modId xmlns:p14="http://schemas.microsoft.com/office/powerpoint/2010/main" val="4209881814"/>
              </p:ext>
            </p:extLst>
          </p:nvPr>
        </p:nvGraphicFramePr>
        <p:xfrm>
          <a:off x="955040" y="2574370"/>
          <a:ext cx="4856480" cy="1709260"/>
        </p:xfrm>
        <a:graphic>
          <a:graphicData uri="http://schemas.openxmlformats.org/drawingml/2006/table">
            <a:tbl>
              <a:tblPr>
                <a:tableStyleId>{5C22544A-7EE6-4342-B048-85BDC9FD1C3A}</a:tableStyleId>
              </a:tblPr>
              <a:tblGrid>
                <a:gridCol w="2428240">
                  <a:extLst>
                    <a:ext uri="{9D8B030D-6E8A-4147-A177-3AD203B41FA5}">
                      <a16:colId xmlns:a16="http://schemas.microsoft.com/office/drawing/2014/main" val="560339673"/>
                    </a:ext>
                  </a:extLst>
                </a:gridCol>
                <a:gridCol w="2428240">
                  <a:extLst>
                    <a:ext uri="{9D8B030D-6E8A-4147-A177-3AD203B41FA5}">
                      <a16:colId xmlns:a16="http://schemas.microsoft.com/office/drawing/2014/main" val="156887457"/>
                    </a:ext>
                  </a:extLst>
                </a:gridCol>
              </a:tblGrid>
              <a:tr h="341852">
                <a:tc>
                  <a:txBody>
                    <a:bodyPr/>
                    <a:lstStyle/>
                    <a:p>
                      <a:pPr marL="0" marR="0" algn="r" fontAlgn="ctr">
                        <a:buNone/>
                      </a:pPr>
                      <a:r>
                        <a:rPr lang="en-MY" sz="975">
                          <a:effectLst/>
                        </a:rPr>
                        <a:t>Mission_Outcome</a:t>
                      </a:r>
                      <a:endParaRPr lang="en-MY" sz="975" b="1" i="0">
                        <a:effectLst/>
                        <a:latin typeface="system-ui"/>
                      </a:endParaRPr>
                    </a:p>
                  </a:txBody>
                  <a:tcPr anchor="ctr"/>
                </a:tc>
                <a:tc>
                  <a:txBody>
                    <a:bodyPr/>
                    <a:lstStyle/>
                    <a:p>
                      <a:pPr marL="0" marR="0" algn="r" fontAlgn="ctr">
                        <a:buNone/>
                      </a:pPr>
                      <a:r>
                        <a:rPr lang="en-MY" sz="975">
                          <a:effectLst/>
                        </a:rPr>
                        <a:t>Total_Outcomes</a:t>
                      </a:r>
                      <a:endParaRPr lang="en-MY" sz="975" b="1" i="0">
                        <a:effectLst/>
                        <a:latin typeface="system-ui"/>
                      </a:endParaRPr>
                    </a:p>
                  </a:txBody>
                  <a:tcPr anchor="ctr"/>
                </a:tc>
                <a:extLst>
                  <a:ext uri="{0D108BD9-81ED-4DB2-BD59-A6C34878D82A}">
                    <a16:rowId xmlns:a16="http://schemas.microsoft.com/office/drawing/2014/main" val="152855159"/>
                  </a:ext>
                </a:extLst>
              </a:tr>
              <a:tr h="341852">
                <a:tc>
                  <a:txBody>
                    <a:bodyPr/>
                    <a:lstStyle/>
                    <a:p>
                      <a:pPr marL="0" marR="0" algn="r" fontAlgn="ctr">
                        <a:buNone/>
                      </a:pPr>
                      <a:r>
                        <a:rPr lang="en-MY" sz="975">
                          <a:effectLst/>
                        </a:rPr>
                        <a:t>Failure (in flight)</a:t>
                      </a:r>
                      <a:endParaRPr lang="en-MY" sz="975" b="0" i="0">
                        <a:effectLst/>
                        <a:latin typeface="system-ui"/>
                      </a:endParaRPr>
                    </a:p>
                  </a:txBody>
                  <a:tcPr anchor="ctr"/>
                </a:tc>
                <a:tc>
                  <a:txBody>
                    <a:bodyPr/>
                    <a:lstStyle/>
                    <a:p>
                      <a:pPr marL="0" marR="0" algn="r" fontAlgn="ctr">
                        <a:buNone/>
                      </a:pPr>
                      <a:r>
                        <a:rPr lang="en-MY" sz="975">
                          <a:effectLst/>
                        </a:rPr>
                        <a:t>1</a:t>
                      </a:r>
                      <a:endParaRPr lang="en-MY" sz="975" b="0" i="0">
                        <a:effectLst/>
                        <a:latin typeface="system-ui"/>
                      </a:endParaRPr>
                    </a:p>
                  </a:txBody>
                  <a:tcPr anchor="ctr"/>
                </a:tc>
                <a:extLst>
                  <a:ext uri="{0D108BD9-81ED-4DB2-BD59-A6C34878D82A}">
                    <a16:rowId xmlns:a16="http://schemas.microsoft.com/office/drawing/2014/main" val="1358016346"/>
                  </a:ext>
                </a:extLst>
              </a:tr>
              <a:tr h="341852">
                <a:tc>
                  <a:txBody>
                    <a:bodyPr/>
                    <a:lstStyle/>
                    <a:p>
                      <a:pPr marL="0" marR="0" algn="r" fontAlgn="ctr">
                        <a:buNone/>
                      </a:pPr>
                      <a:r>
                        <a:rPr lang="en-MY" sz="975">
                          <a:effectLst/>
                        </a:rPr>
                        <a:t>Success</a:t>
                      </a:r>
                      <a:endParaRPr lang="en-MY" sz="975" b="0" i="0">
                        <a:effectLst/>
                        <a:latin typeface="system-ui"/>
                      </a:endParaRPr>
                    </a:p>
                  </a:txBody>
                  <a:tcPr anchor="ctr"/>
                </a:tc>
                <a:tc>
                  <a:txBody>
                    <a:bodyPr/>
                    <a:lstStyle/>
                    <a:p>
                      <a:pPr marL="0" marR="0" algn="r" fontAlgn="ctr">
                        <a:buNone/>
                      </a:pPr>
                      <a:r>
                        <a:rPr lang="en-MY" sz="975">
                          <a:effectLst/>
                        </a:rPr>
                        <a:t>98</a:t>
                      </a:r>
                      <a:endParaRPr lang="en-MY" sz="975" b="0" i="0">
                        <a:effectLst/>
                        <a:latin typeface="system-ui"/>
                      </a:endParaRPr>
                    </a:p>
                  </a:txBody>
                  <a:tcPr anchor="ctr"/>
                </a:tc>
                <a:extLst>
                  <a:ext uri="{0D108BD9-81ED-4DB2-BD59-A6C34878D82A}">
                    <a16:rowId xmlns:a16="http://schemas.microsoft.com/office/drawing/2014/main" val="112824862"/>
                  </a:ext>
                </a:extLst>
              </a:tr>
              <a:tr h="341852">
                <a:tc>
                  <a:txBody>
                    <a:bodyPr/>
                    <a:lstStyle/>
                    <a:p>
                      <a:pPr marL="0" marR="0" algn="r" fontAlgn="ctr">
                        <a:buNone/>
                      </a:pPr>
                      <a:r>
                        <a:rPr lang="en-MY" sz="975">
                          <a:effectLst/>
                        </a:rPr>
                        <a:t>Success</a:t>
                      </a:r>
                      <a:endParaRPr lang="en-MY" sz="975" b="0" i="0">
                        <a:effectLst/>
                        <a:latin typeface="system-ui"/>
                      </a:endParaRPr>
                    </a:p>
                  </a:txBody>
                  <a:tcPr anchor="ctr"/>
                </a:tc>
                <a:tc>
                  <a:txBody>
                    <a:bodyPr/>
                    <a:lstStyle/>
                    <a:p>
                      <a:pPr marL="0" marR="0" algn="r" fontAlgn="ctr">
                        <a:buNone/>
                      </a:pPr>
                      <a:r>
                        <a:rPr lang="en-MY" sz="975">
                          <a:effectLst/>
                        </a:rPr>
                        <a:t>1</a:t>
                      </a:r>
                      <a:endParaRPr lang="en-MY" sz="975" b="0" i="0">
                        <a:effectLst/>
                        <a:latin typeface="system-ui"/>
                      </a:endParaRPr>
                    </a:p>
                  </a:txBody>
                  <a:tcPr anchor="ctr"/>
                </a:tc>
                <a:extLst>
                  <a:ext uri="{0D108BD9-81ED-4DB2-BD59-A6C34878D82A}">
                    <a16:rowId xmlns:a16="http://schemas.microsoft.com/office/drawing/2014/main" val="674895935"/>
                  </a:ext>
                </a:extLst>
              </a:tr>
              <a:tr h="341852">
                <a:tc>
                  <a:txBody>
                    <a:bodyPr/>
                    <a:lstStyle/>
                    <a:p>
                      <a:pPr marL="0" marR="0" algn="r" fontAlgn="ctr">
                        <a:buNone/>
                      </a:pPr>
                      <a:r>
                        <a:rPr lang="en-MY" sz="975">
                          <a:effectLst/>
                        </a:rPr>
                        <a:t>Success (payload status unclear)</a:t>
                      </a:r>
                      <a:endParaRPr lang="en-MY" sz="975" b="0" i="0">
                        <a:effectLst/>
                        <a:latin typeface="system-ui"/>
                      </a:endParaRPr>
                    </a:p>
                  </a:txBody>
                  <a:tcPr anchor="ctr"/>
                </a:tc>
                <a:tc>
                  <a:txBody>
                    <a:bodyPr/>
                    <a:lstStyle/>
                    <a:p>
                      <a:pPr marL="0" marR="0" algn="r" fontAlgn="ctr">
                        <a:buNone/>
                      </a:pPr>
                      <a:r>
                        <a:rPr lang="en-MY" sz="975" dirty="0">
                          <a:effectLst/>
                        </a:rPr>
                        <a:t>1</a:t>
                      </a:r>
                      <a:endParaRPr lang="en-MY" sz="975" b="0" i="0" dirty="0">
                        <a:effectLst/>
                        <a:latin typeface="system-ui"/>
                      </a:endParaRPr>
                    </a:p>
                  </a:txBody>
                  <a:tcPr anchor="ctr"/>
                </a:tc>
                <a:extLst>
                  <a:ext uri="{0D108BD9-81ED-4DB2-BD59-A6C34878D82A}">
                    <a16:rowId xmlns:a16="http://schemas.microsoft.com/office/drawing/2014/main" val="1714594205"/>
                  </a:ext>
                </a:extLst>
              </a:tr>
            </a:tbl>
          </a:graphicData>
        </a:graphic>
      </p:graphicFrame>
      <p:sp>
        <p:nvSpPr>
          <p:cNvPr id="7" name="TextBox 6">
            <a:extLst>
              <a:ext uri="{FF2B5EF4-FFF2-40B4-BE49-F238E27FC236}">
                <a16:creationId xmlns:a16="http://schemas.microsoft.com/office/drawing/2014/main" id="{9EA94824-9561-8707-0029-6A24C4709FF1}"/>
              </a:ext>
            </a:extLst>
          </p:cNvPr>
          <p:cNvSpPr txBox="1"/>
          <p:nvPr/>
        </p:nvSpPr>
        <p:spPr>
          <a:xfrm>
            <a:off x="955040" y="1589723"/>
            <a:ext cx="6096000" cy="923330"/>
          </a:xfrm>
          <a:prstGeom prst="rect">
            <a:avLst/>
          </a:prstGeom>
          <a:noFill/>
        </p:spPr>
        <p:txBody>
          <a:bodyPr wrap="square">
            <a:spAutoFit/>
          </a:bodyPr>
          <a:lstStyle/>
          <a:p>
            <a:r>
              <a:rPr lang="en-MY" dirty="0"/>
              <a:t>SELECT </a:t>
            </a:r>
            <a:r>
              <a:rPr lang="en-MY" dirty="0" err="1"/>
              <a:t>Mission_Outcome</a:t>
            </a:r>
            <a:r>
              <a:rPr lang="en-MY" dirty="0"/>
              <a:t>, COUNT(*) AS </a:t>
            </a:r>
            <a:r>
              <a:rPr lang="en-MY" dirty="0" err="1"/>
              <a:t>Total_Outcomes</a:t>
            </a:r>
            <a:r>
              <a:rPr lang="en-MY" dirty="0"/>
              <a:t> </a:t>
            </a:r>
          </a:p>
          <a:p>
            <a:r>
              <a:rPr lang="en-MY" dirty="0"/>
              <a:t>FROM SPACEXTABLE </a:t>
            </a:r>
          </a:p>
          <a:p>
            <a:r>
              <a:rPr lang="en-MY" dirty="0"/>
              <a:t>GROUP BY </a:t>
            </a:r>
            <a:r>
              <a:rPr lang="en-MY" dirty="0" err="1"/>
              <a:t>Mission_Outcome</a:t>
            </a:r>
            <a:r>
              <a:rPr lang="en-MY" dirty="0"/>
              <a:t>;</a:t>
            </a:r>
          </a:p>
        </p:txBody>
      </p:sp>
    </p:spTree>
    <p:extLst>
      <p:ext uri="{BB962C8B-B14F-4D97-AF65-F5344CB8AC3E}">
        <p14:creationId xmlns:p14="http://schemas.microsoft.com/office/powerpoint/2010/main" val="1756972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34028" y="4739220"/>
            <a:ext cx="9745589" cy="4351338"/>
          </a:xfrm>
          <a:prstGeom prst="rect">
            <a:avLst/>
          </a:prstGeom>
        </p:spPr>
        <p:txBody>
          <a:bodyPr>
            <a:normAutofit/>
          </a:bodyPr>
          <a:lstStyle/>
          <a:p>
            <a:pPr>
              <a:spcBef>
                <a:spcPts val="1400"/>
              </a:spcBef>
            </a:pPr>
            <a:r>
              <a:rPr lang="en-MY" sz="2400" dirty="0"/>
              <a:t>The maximum payload capacity of 15,600 kg is carried exclusively by reusable Falcon 9 Block 5 boosters launching heavy Starlink satellite batches.</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graphicFrame>
        <p:nvGraphicFramePr>
          <p:cNvPr id="2" name="Table 1">
            <a:extLst>
              <a:ext uri="{FF2B5EF4-FFF2-40B4-BE49-F238E27FC236}">
                <a16:creationId xmlns:a16="http://schemas.microsoft.com/office/drawing/2014/main" id="{B88E6A83-055C-200B-C8A6-008990571FE8}"/>
              </a:ext>
            </a:extLst>
          </p:cNvPr>
          <p:cNvGraphicFramePr>
            <a:graphicFrameLocks noGrp="1"/>
          </p:cNvGraphicFramePr>
          <p:nvPr>
            <p:extLst>
              <p:ext uri="{D42A27DB-BD31-4B8C-83A1-F6EECF244321}">
                <p14:modId xmlns:p14="http://schemas.microsoft.com/office/powerpoint/2010/main" val="2939109652"/>
              </p:ext>
            </p:extLst>
          </p:nvPr>
        </p:nvGraphicFramePr>
        <p:xfrm>
          <a:off x="6151457" y="1506379"/>
          <a:ext cx="2639028" cy="3120390"/>
        </p:xfrm>
        <a:graphic>
          <a:graphicData uri="http://schemas.openxmlformats.org/drawingml/2006/table">
            <a:tbl>
              <a:tblPr>
                <a:tableStyleId>{5C22544A-7EE6-4342-B048-85BDC9FD1C3A}</a:tableStyleId>
              </a:tblPr>
              <a:tblGrid>
                <a:gridCol w="2639028">
                  <a:extLst>
                    <a:ext uri="{9D8B030D-6E8A-4147-A177-3AD203B41FA5}">
                      <a16:colId xmlns:a16="http://schemas.microsoft.com/office/drawing/2014/main" val="1706951694"/>
                    </a:ext>
                  </a:extLst>
                </a:gridCol>
              </a:tblGrid>
              <a:tr h="0">
                <a:tc>
                  <a:txBody>
                    <a:bodyPr/>
                    <a:lstStyle/>
                    <a:p>
                      <a:pPr marL="0" marR="0" algn="r" fontAlgn="ctr">
                        <a:buNone/>
                      </a:pPr>
                      <a:r>
                        <a:rPr lang="en-MY" sz="975">
                          <a:effectLst/>
                        </a:rPr>
                        <a:t>Booster_Version</a:t>
                      </a:r>
                      <a:endParaRPr lang="en-MY" sz="975" b="1" i="0">
                        <a:effectLst/>
                        <a:latin typeface="system-ui"/>
                      </a:endParaRPr>
                    </a:p>
                  </a:txBody>
                  <a:tcPr anchor="ctr"/>
                </a:tc>
                <a:extLst>
                  <a:ext uri="{0D108BD9-81ED-4DB2-BD59-A6C34878D82A}">
                    <a16:rowId xmlns:a16="http://schemas.microsoft.com/office/drawing/2014/main" val="2942647011"/>
                  </a:ext>
                </a:extLst>
              </a:tr>
              <a:tr h="0">
                <a:tc>
                  <a:txBody>
                    <a:bodyPr/>
                    <a:lstStyle/>
                    <a:p>
                      <a:pPr marL="0" marR="0" algn="r" fontAlgn="ctr">
                        <a:buNone/>
                      </a:pPr>
                      <a:r>
                        <a:rPr lang="en-MY" sz="975">
                          <a:effectLst/>
                        </a:rPr>
                        <a:t>F9 B5 B1048.4</a:t>
                      </a:r>
                      <a:endParaRPr lang="en-MY" sz="975" b="0" i="0">
                        <a:effectLst/>
                        <a:latin typeface="system-ui"/>
                      </a:endParaRPr>
                    </a:p>
                  </a:txBody>
                  <a:tcPr anchor="ctr"/>
                </a:tc>
                <a:extLst>
                  <a:ext uri="{0D108BD9-81ED-4DB2-BD59-A6C34878D82A}">
                    <a16:rowId xmlns:a16="http://schemas.microsoft.com/office/drawing/2014/main" val="96980257"/>
                  </a:ext>
                </a:extLst>
              </a:tr>
              <a:tr h="0">
                <a:tc>
                  <a:txBody>
                    <a:bodyPr/>
                    <a:lstStyle/>
                    <a:p>
                      <a:pPr marL="0" marR="0" algn="r" fontAlgn="ctr">
                        <a:buNone/>
                      </a:pPr>
                      <a:r>
                        <a:rPr lang="en-MY" sz="975" dirty="0">
                          <a:effectLst/>
                        </a:rPr>
                        <a:t>F9 B5 B1049.4</a:t>
                      </a:r>
                      <a:endParaRPr lang="en-MY" sz="975" b="0" i="0" dirty="0">
                        <a:effectLst/>
                        <a:latin typeface="system-ui"/>
                      </a:endParaRPr>
                    </a:p>
                  </a:txBody>
                  <a:tcPr anchor="ctr"/>
                </a:tc>
                <a:extLst>
                  <a:ext uri="{0D108BD9-81ED-4DB2-BD59-A6C34878D82A}">
                    <a16:rowId xmlns:a16="http://schemas.microsoft.com/office/drawing/2014/main" val="2052175231"/>
                  </a:ext>
                </a:extLst>
              </a:tr>
              <a:tr h="0">
                <a:tc>
                  <a:txBody>
                    <a:bodyPr/>
                    <a:lstStyle/>
                    <a:p>
                      <a:pPr marL="0" marR="0" algn="r" fontAlgn="ctr">
                        <a:buNone/>
                      </a:pPr>
                      <a:r>
                        <a:rPr lang="en-MY" sz="975">
                          <a:effectLst/>
                        </a:rPr>
                        <a:t>F9 B5 B1051.3</a:t>
                      </a:r>
                      <a:endParaRPr lang="en-MY" sz="975" b="0" i="0">
                        <a:effectLst/>
                        <a:latin typeface="system-ui"/>
                      </a:endParaRPr>
                    </a:p>
                  </a:txBody>
                  <a:tcPr anchor="ctr"/>
                </a:tc>
                <a:extLst>
                  <a:ext uri="{0D108BD9-81ED-4DB2-BD59-A6C34878D82A}">
                    <a16:rowId xmlns:a16="http://schemas.microsoft.com/office/drawing/2014/main" val="2675305067"/>
                  </a:ext>
                </a:extLst>
              </a:tr>
              <a:tr h="0">
                <a:tc>
                  <a:txBody>
                    <a:bodyPr/>
                    <a:lstStyle/>
                    <a:p>
                      <a:pPr marL="0" marR="0" algn="r" fontAlgn="ctr">
                        <a:buNone/>
                      </a:pPr>
                      <a:r>
                        <a:rPr lang="en-MY" sz="975">
                          <a:effectLst/>
                        </a:rPr>
                        <a:t>F9 B5 B1056.4</a:t>
                      </a:r>
                      <a:endParaRPr lang="en-MY" sz="975" b="0" i="0">
                        <a:effectLst/>
                        <a:latin typeface="system-ui"/>
                      </a:endParaRPr>
                    </a:p>
                  </a:txBody>
                  <a:tcPr anchor="ctr"/>
                </a:tc>
                <a:extLst>
                  <a:ext uri="{0D108BD9-81ED-4DB2-BD59-A6C34878D82A}">
                    <a16:rowId xmlns:a16="http://schemas.microsoft.com/office/drawing/2014/main" val="4228506931"/>
                  </a:ext>
                </a:extLst>
              </a:tr>
              <a:tr h="0">
                <a:tc>
                  <a:txBody>
                    <a:bodyPr/>
                    <a:lstStyle/>
                    <a:p>
                      <a:pPr marL="0" marR="0" algn="r" fontAlgn="ctr">
                        <a:buNone/>
                      </a:pPr>
                      <a:r>
                        <a:rPr lang="en-MY" sz="975">
                          <a:effectLst/>
                        </a:rPr>
                        <a:t>F9 B5 B1048.5</a:t>
                      </a:r>
                      <a:endParaRPr lang="en-MY" sz="975" b="0" i="0">
                        <a:effectLst/>
                        <a:latin typeface="system-ui"/>
                      </a:endParaRPr>
                    </a:p>
                  </a:txBody>
                  <a:tcPr anchor="ctr"/>
                </a:tc>
                <a:extLst>
                  <a:ext uri="{0D108BD9-81ED-4DB2-BD59-A6C34878D82A}">
                    <a16:rowId xmlns:a16="http://schemas.microsoft.com/office/drawing/2014/main" val="3635277233"/>
                  </a:ext>
                </a:extLst>
              </a:tr>
              <a:tr h="0">
                <a:tc>
                  <a:txBody>
                    <a:bodyPr/>
                    <a:lstStyle/>
                    <a:p>
                      <a:pPr marL="0" marR="0" algn="r" fontAlgn="ctr">
                        <a:buNone/>
                      </a:pPr>
                      <a:r>
                        <a:rPr lang="en-MY" sz="975">
                          <a:effectLst/>
                        </a:rPr>
                        <a:t>F9 B5 B1051.4</a:t>
                      </a:r>
                      <a:endParaRPr lang="en-MY" sz="975" b="0" i="0">
                        <a:effectLst/>
                        <a:latin typeface="system-ui"/>
                      </a:endParaRPr>
                    </a:p>
                  </a:txBody>
                  <a:tcPr anchor="ctr"/>
                </a:tc>
                <a:extLst>
                  <a:ext uri="{0D108BD9-81ED-4DB2-BD59-A6C34878D82A}">
                    <a16:rowId xmlns:a16="http://schemas.microsoft.com/office/drawing/2014/main" val="693923154"/>
                  </a:ext>
                </a:extLst>
              </a:tr>
              <a:tr h="0">
                <a:tc>
                  <a:txBody>
                    <a:bodyPr/>
                    <a:lstStyle/>
                    <a:p>
                      <a:pPr marL="0" marR="0" algn="r" fontAlgn="ctr">
                        <a:buNone/>
                      </a:pPr>
                      <a:r>
                        <a:rPr lang="en-MY" sz="975">
                          <a:effectLst/>
                        </a:rPr>
                        <a:t>F9 B5 B1049.5</a:t>
                      </a:r>
                      <a:endParaRPr lang="en-MY" sz="975" b="0" i="0">
                        <a:effectLst/>
                        <a:latin typeface="system-ui"/>
                      </a:endParaRPr>
                    </a:p>
                  </a:txBody>
                  <a:tcPr anchor="ctr"/>
                </a:tc>
                <a:extLst>
                  <a:ext uri="{0D108BD9-81ED-4DB2-BD59-A6C34878D82A}">
                    <a16:rowId xmlns:a16="http://schemas.microsoft.com/office/drawing/2014/main" val="589747727"/>
                  </a:ext>
                </a:extLst>
              </a:tr>
              <a:tr h="0">
                <a:tc>
                  <a:txBody>
                    <a:bodyPr/>
                    <a:lstStyle/>
                    <a:p>
                      <a:pPr marL="0" marR="0" algn="r" fontAlgn="ctr">
                        <a:buNone/>
                      </a:pPr>
                      <a:r>
                        <a:rPr lang="en-MY" sz="975">
                          <a:effectLst/>
                        </a:rPr>
                        <a:t>F9 B5 B1060.2</a:t>
                      </a:r>
                      <a:endParaRPr lang="en-MY" sz="975" b="0" i="0">
                        <a:effectLst/>
                        <a:latin typeface="system-ui"/>
                      </a:endParaRPr>
                    </a:p>
                  </a:txBody>
                  <a:tcPr anchor="ctr"/>
                </a:tc>
                <a:extLst>
                  <a:ext uri="{0D108BD9-81ED-4DB2-BD59-A6C34878D82A}">
                    <a16:rowId xmlns:a16="http://schemas.microsoft.com/office/drawing/2014/main" val="2100268950"/>
                  </a:ext>
                </a:extLst>
              </a:tr>
              <a:tr h="0">
                <a:tc>
                  <a:txBody>
                    <a:bodyPr/>
                    <a:lstStyle/>
                    <a:p>
                      <a:pPr marL="0" marR="0" algn="r" fontAlgn="ctr">
                        <a:buNone/>
                      </a:pPr>
                      <a:r>
                        <a:rPr lang="en-MY" sz="975" dirty="0">
                          <a:effectLst/>
                        </a:rPr>
                        <a:t>F9 B5 B1058.3</a:t>
                      </a:r>
                      <a:endParaRPr lang="en-MY" sz="975" b="0" i="0" dirty="0">
                        <a:effectLst/>
                        <a:latin typeface="system-ui"/>
                      </a:endParaRPr>
                    </a:p>
                  </a:txBody>
                  <a:tcPr anchor="ctr"/>
                </a:tc>
                <a:extLst>
                  <a:ext uri="{0D108BD9-81ED-4DB2-BD59-A6C34878D82A}">
                    <a16:rowId xmlns:a16="http://schemas.microsoft.com/office/drawing/2014/main" val="3810354709"/>
                  </a:ext>
                </a:extLst>
              </a:tr>
              <a:tr h="0">
                <a:tc>
                  <a:txBody>
                    <a:bodyPr/>
                    <a:lstStyle/>
                    <a:p>
                      <a:pPr marL="0" marR="0" algn="r" fontAlgn="ctr">
                        <a:buNone/>
                      </a:pPr>
                      <a:r>
                        <a:rPr lang="en-MY" sz="975">
                          <a:effectLst/>
                        </a:rPr>
                        <a:t>F9 B5 B1051.6</a:t>
                      </a:r>
                      <a:endParaRPr lang="en-MY" sz="975" b="0" i="0">
                        <a:effectLst/>
                        <a:latin typeface="system-ui"/>
                      </a:endParaRPr>
                    </a:p>
                  </a:txBody>
                  <a:tcPr anchor="ctr"/>
                </a:tc>
                <a:extLst>
                  <a:ext uri="{0D108BD9-81ED-4DB2-BD59-A6C34878D82A}">
                    <a16:rowId xmlns:a16="http://schemas.microsoft.com/office/drawing/2014/main" val="2306132111"/>
                  </a:ext>
                </a:extLst>
              </a:tr>
              <a:tr h="0">
                <a:tc>
                  <a:txBody>
                    <a:bodyPr/>
                    <a:lstStyle/>
                    <a:p>
                      <a:pPr marL="0" marR="0" algn="r" fontAlgn="ctr">
                        <a:buNone/>
                      </a:pPr>
                      <a:r>
                        <a:rPr lang="en-MY" sz="975">
                          <a:effectLst/>
                        </a:rPr>
                        <a:t>F9 B5 B1060.3</a:t>
                      </a:r>
                      <a:endParaRPr lang="en-MY" sz="975" b="0" i="0">
                        <a:effectLst/>
                        <a:latin typeface="system-ui"/>
                      </a:endParaRPr>
                    </a:p>
                  </a:txBody>
                  <a:tcPr anchor="ctr"/>
                </a:tc>
                <a:extLst>
                  <a:ext uri="{0D108BD9-81ED-4DB2-BD59-A6C34878D82A}">
                    <a16:rowId xmlns:a16="http://schemas.microsoft.com/office/drawing/2014/main" val="942574440"/>
                  </a:ext>
                </a:extLst>
              </a:tr>
              <a:tr h="0">
                <a:tc>
                  <a:txBody>
                    <a:bodyPr/>
                    <a:lstStyle/>
                    <a:p>
                      <a:pPr marL="0" marR="0" algn="r" fontAlgn="ctr">
                        <a:buNone/>
                      </a:pPr>
                      <a:r>
                        <a:rPr lang="en-MY" sz="975" dirty="0">
                          <a:effectLst/>
                        </a:rPr>
                        <a:t>F9 B5 B1049.7</a:t>
                      </a:r>
                      <a:endParaRPr lang="en-MY" sz="975" b="0" i="0" dirty="0">
                        <a:effectLst/>
                        <a:latin typeface="system-ui"/>
                      </a:endParaRPr>
                    </a:p>
                  </a:txBody>
                  <a:tcPr anchor="ctr"/>
                </a:tc>
                <a:extLst>
                  <a:ext uri="{0D108BD9-81ED-4DB2-BD59-A6C34878D82A}">
                    <a16:rowId xmlns:a16="http://schemas.microsoft.com/office/drawing/2014/main" val="4114995218"/>
                  </a:ext>
                </a:extLst>
              </a:tr>
            </a:tbl>
          </a:graphicData>
        </a:graphic>
      </p:graphicFrame>
      <p:sp>
        <p:nvSpPr>
          <p:cNvPr id="7" name="TextBox 6">
            <a:extLst>
              <a:ext uri="{FF2B5EF4-FFF2-40B4-BE49-F238E27FC236}">
                <a16:creationId xmlns:a16="http://schemas.microsoft.com/office/drawing/2014/main" id="{B05E2AF9-AF4F-96E7-6DF3-98536E319962}"/>
              </a:ext>
            </a:extLst>
          </p:cNvPr>
          <p:cNvSpPr txBox="1"/>
          <p:nvPr/>
        </p:nvSpPr>
        <p:spPr>
          <a:xfrm>
            <a:off x="734028" y="1713130"/>
            <a:ext cx="6096000" cy="1200329"/>
          </a:xfrm>
          <a:prstGeom prst="rect">
            <a:avLst/>
          </a:prstGeom>
          <a:noFill/>
        </p:spPr>
        <p:txBody>
          <a:bodyPr wrap="square">
            <a:spAutoFit/>
          </a:bodyPr>
          <a:lstStyle/>
          <a:p>
            <a:r>
              <a:rPr lang="en-MY" dirty="0"/>
              <a:t>SELECT DISTINCT </a:t>
            </a:r>
            <a:r>
              <a:rPr lang="en-MY" dirty="0" err="1"/>
              <a:t>Booster_Version</a:t>
            </a:r>
            <a:r>
              <a:rPr lang="en-MY" dirty="0"/>
              <a:t> </a:t>
            </a:r>
          </a:p>
          <a:p>
            <a:r>
              <a:rPr lang="en-MY" dirty="0"/>
              <a:t>FROM SPACEXTABLE </a:t>
            </a:r>
          </a:p>
          <a:p>
            <a:r>
              <a:rPr lang="en-MY" dirty="0"/>
              <a:t>WHERE </a:t>
            </a:r>
            <a:r>
              <a:rPr lang="en-MY" dirty="0" err="1"/>
              <a:t>Payload_Mass__kg</a:t>
            </a:r>
            <a:r>
              <a:rPr lang="en-MY" dirty="0"/>
              <a:t>_ = (SELECT MAX(</a:t>
            </a:r>
            <a:r>
              <a:rPr lang="en-MY" dirty="0" err="1"/>
              <a:t>Payload_Mass__kg</a:t>
            </a:r>
            <a:r>
              <a:rPr lang="en-MY" dirty="0"/>
              <a:t>_) FROM SPACEXTABLE);</a:t>
            </a:r>
          </a:p>
        </p:txBody>
      </p:sp>
    </p:spTree>
    <p:extLst>
      <p:ext uri="{BB962C8B-B14F-4D97-AF65-F5344CB8AC3E}">
        <p14:creationId xmlns:p14="http://schemas.microsoft.com/office/powerpoint/2010/main" val="3566646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4457065"/>
            <a:ext cx="9745589" cy="4351338"/>
          </a:xfrm>
          <a:prstGeom prst="rect">
            <a:avLst/>
          </a:prstGeom>
        </p:spPr>
        <p:txBody>
          <a:bodyPr lIns="91440" tIns="45720" rIns="91440" bIns="45720" anchor="t">
            <a:normAutofit/>
          </a:bodyPr>
          <a:lstStyle/>
          <a:p>
            <a:pPr>
              <a:spcBef>
                <a:spcPts val="1400"/>
              </a:spcBef>
            </a:pPr>
            <a:r>
              <a:rPr lang="en-MY" sz="2400" dirty="0"/>
              <a:t>Documents early drone ship recovery tests in January and April 2015 that resulted in crash landings before control algorithms and thrusters were perfected. </a:t>
            </a:r>
            <a:endParaRPr lang="en-US"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graphicFrame>
        <p:nvGraphicFramePr>
          <p:cNvPr id="2" name="Table 1">
            <a:extLst>
              <a:ext uri="{FF2B5EF4-FFF2-40B4-BE49-F238E27FC236}">
                <a16:creationId xmlns:a16="http://schemas.microsoft.com/office/drawing/2014/main" id="{F1FDB84B-8209-51C4-1BFF-3325ECD6AB30}"/>
              </a:ext>
            </a:extLst>
          </p:cNvPr>
          <p:cNvGraphicFramePr>
            <a:graphicFrameLocks noGrp="1"/>
          </p:cNvGraphicFramePr>
          <p:nvPr>
            <p:extLst>
              <p:ext uri="{D42A27DB-BD31-4B8C-83A1-F6EECF244321}">
                <p14:modId xmlns:p14="http://schemas.microsoft.com/office/powerpoint/2010/main" val="2552334604"/>
              </p:ext>
            </p:extLst>
          </p:nvPr>
        </p:nvGraphicFramePr>
        <p:xfrm>
          <a:off x="955040" y="2906554"/>
          <a:ext cx="7853680" cy="1469232"/>
        </p:xfrm>
        <a:graphic>
          <a:graphicData uri="http://schemas.openxmlformats.org/drawingml/2006/table">
            <a:tbl>
              <a:tblPr>
                <a:tableStyleId>{5C22544A-7EE6-4342-B048-85BDC9FD1C3A}</a:tableStyleId>
              </a:tblPr>
              <a:tblGrid>
                <a:gridCol w="1963420">
                  <a:extLst>
                    <a:ext uri="{9D8B030D-6E8A-4147-A177-3AD203B41FA5}">
                      <a16:colId xmlns:a16="http://schemas.microsoft.com/office/drawing/2014/main" val="2172875325"/>
                    </a:ext>
                  </a:extLst>
                </a:gridCol>
                <a:gridCol w="1963420">
                  <a:extLst>
                    <a:ext uri="{9D8B030D-6E8A-4147-A177-3AD203B41FA5}">
                      <a16:colId xmlns:a16="http://schemas.microsoft.com/office/drawing/2014/main" val="3358626989"/>
                    </a:ext>
                  </a:extLst>
                </a:gridCol>
                <a:gridCol w="1963420">
                  <a:extLst>
                    <a:ext uri="{9D8B030D-6E8A-4147-A177-3AD203B41FA5}">
                      <a16:colId xmlns:a16="http://schemas.microsoft.com/office/drawing/2014/main" val="1446758382"/>
                    </a:ext>
                  </a:extLst>
                </a:gridCol>
                <a:gridCol w="1963420">
                  <a:extLst>
                    <a:ext uri="{9D8B030D-6E8A-4147-A177-3AD203B41FA5}">
                      <a16:colId xmlns:a16="http://schemas.microsoft.com/office/drawing/2014/main" val="4226618244"/>
                    </a:ext>
                  </a:extLst>
                </a:gridCol>
              </a:tblGrid>
              <a:tr h="489744">
                <a:tc>
                  <a:txBody>
                    <a:bodyPr/>
                    <a:lstStyle/>
                    <a:p>
                      <a:pPr marL="0" marR="0" algn="r" fontAlgn="ctr">
                        <a:buNone/>
                      </a:pPr>
                      <a:r>
                        <a:rPr lang="en-MY" sz="975">
                          <a:effectLst/>
                        </a:rPr>
                        <a:t>Month</a:t>
                      </a:r>
                      <a:endParaRPr lang="en-MY" sz="975" b="1" i="0">
                        <a:effectLst/>
                        <a:latin typeface="system-ui"/>
                      </a:endParaRPr>
                    </a:p>
                  </a:txBody>
                  <a:tcPr anchor="ctr"/>
                </a:tc>
                <a:tc>
                  <a:txBody>
                    <a:bodyPr/>
                    <a:lstStyle/>
                    <a:p>
                      <a:pPr marL="0" marR="0" algn="r" fontAlgn="ctr">
                        <a:buNone/>
                      </a:pPr>
                      <a:r>
                        <a:rPr lang="en-MY" sz="975">
                          <a:effectLst/>
                        </a:rPr>
                        <a:t>Landing_Outcome</a:t>
                      </a:r>
                      <a:endParaRPr lang="en-MY" sz="975" b="1" i="0">
                        <a:effectLst/>
                        <a:latin typeface="system-ui"/>
                      </a:endParaRPr>
                    </a:p>
                  </a:txBody>
                  <a:tcPr anchor="ctr"/>
                </a:tc>
                <a:tc>
                  <a:txBody>
                    <a:bodyPr/>
                    <a:lstStyle/>
                    <a:p>
                      <a:pPr marL="0" marR="0" algn="r" fontAlgn="ctr">
                        <a:buNone/>
                      </a:pPr>
                      <a:r>
                        <a:rPr lang="en-MY" sz="975">
                          <a:effectLst/>
                        </a:rPr>
                        <a:t>Booster_Version</a:t>
                      </a:r>
                      <a:endParaRPr lang="en-MY" sz="975" b="1" i="0">
                        <a:effectLst/>
                        <a:latin typeface="system-ui"/>
                      </a:endParaRPr>
                    </a:p>
                  </a:txBody>
                  <a:tcPr anchor="ctr"/>
                </a:tc>
                <a:tc>
                  <a:txBody>
                    <a:bodyPr/>
                    <a:lstStyle/>
                    <a:p>
                      <a:pPr marL="0" marR="0" algn="r" fontAlgn="ctr">
                        <a:buNone/>
                      </a:pPr>
                      <a:r>
                        <a:rPr lang="en-MY" sz="975" dirty="0" err="1">
                          <a:effectLst/>
                        </a:rPr>
                        <a:t>Launch_Site</a:t>
                      </a:r>
                      <a:endParaRPr lang="en-MY" sz="975" b="1" i="0" dirty="0">
                        <a:effectLst/>
                        <a:latin typeface="system-ui"/>
                      </a:endParaRPr>
                    </a:p>
                  </a:txBody>
                  <a:tcPr anchor="ctr"/>
                </a:tc>
                <a:extLst>
                  <a:ext uri="{0D108BD9-81ED-4DB2-BD59-A6C34878D82A}">
                    <a16:rowId xmlns:a16="http://schemas.microsoft.com/office/drawing/2014/main" val="1492491437"/>
                  </a:ext>
                </a:extLst>
              </a:tr>
              <a:tr h="489744">
                <a:tc>
                  <a:txBody>
                    <a:bodyPr/>
                    <a:lstStyle/>
                    <a:p>
                      <a:pPr marL="0" marR="0" algn="r" fontAlgn="ctr">
                        <a:buNone/>
                      </a:pPr>
                      <a:r>
                        <a:rPr lang="en-MY" sz="975" dirty="0">
                          <a:effectLst/>
                        </a:rPr>
                        <a:t>01</a:t>
                      </a:r>
                      <a:endParaRPr lang="en-MY" sz="975" b="0" i="0" dirty="0">
                        <a:effectLst/>
                        <a:latin typeface="system-ui"/>
                      </a:endParaRPr>
                    </a:p>
                  </a:txBody>
                  <a:tcPr anchor="ctr"/>
                </a:tc>
                <a:tc>
                  <a:txBody>
                    <a:bodyPr/>
                    <a:lstStyle/>
                    <a:p>
                      <a:pPr marL="0" marR="0" algn="r" fontAlgn="ctr">
                        <a:buNone/>
                      </a:pPr>
                      <a:r>
                        <a:rPr lang="en-MY" sz="975">
                          <a:effectLst/>
                        </a:rPr>
                        <a:t>Failure (drone ship)</a:t>
                      </a:r>
                      <a:endParaRPr lang="en-MY" sz="975" b="0" i="0">
                        <a:effectLst/>
                        <a:latin typeface="system-ui"/>
                      </a:endParaRPr>
                    </a:p>
                  </a:txBody>
                  <a:tcPr anchor="ctr"/>
                </a:tc>
                <a:tc>
                  <a:txBody>
                    <a:bodyPr/>
                    <a:lstStyle/>
                    <a:p>
                      <a:pPr marL="0" marR="0" algn="r" fontAlgn="ctr">
                        <a:buNone/>
                      </a:pPr>
                      <a:r>
                        <a:rPr lang="en-MY" sz="975">
                          <a:effectLst/>
                        </a:rPr>
                        <a:t>F9 v1.1 B1012</a:t>
                      </a:r>
                      <a:endParaRPr lang="en-MY" sz="975" b="0" i="0">
                        <a:effectLst/>
                        <a:latin typeface="system-ui"/>
                      </a:endParaRPr>
                    </a:p>
                  </a:txBody>
                  <a:tcPr anchor="ctr"/>
                </a:tc>
                <a:tc>
                  <a:txBody>
                    <a:bodyPr/>
                    <a:lstStyle/>
                    <a:p>
                      <a:pPr marL="0" marR="0" algn="r" fontAlgn="ctr">
                        <a:buNone/>
                      </a:pPr>
                      <a:r>
                        <a:rPr lang="en-MY" sz="975" dirty="0">
                          <a:effectLst/>
                        </a:rPr>
                        <a:t>CCAFS LC-40</a:t>
                      </a:r>
                      <a:endParaRPr lang="en-MY" sz="975" b="0" i="0" dirty="0">
                        <a:effectLst/>
                        <a:latin typeface="system-ui"/>
                      </a:endParaRPr>
                    </a:p>
                  </a:txBody>
                  <a:tcPr anchor="ctr"/>
                </a:tc>
                <a:extLst>
                  <a:ext uri="{0D108BD9-81ED-4DB2-BD59-A6C34878D82A}">
                    <a16:rowId xmlns:a16="http://schemas.microsoft.com/office/drawing/2014/main" val="971608108"/>
                  </a:ext>
                </a:extLst>
              </a:tr>
              <a:tr h="489744">
                <a:tc>
                  <a:txBody>
                    <a:bodyPr/>
                    <a:lstStyle/>
                    <a:p>
                      <a:pPr marL="0" marR="0" algn="r" fontAlgn="ctr">
                        <a:buNone/>
                      </a:pPr>
                      <a:r>
                        <a:rPr lang="en-MY" sz="975">
                          <a:effectLst/>
                        </a:rPr>
                        <a:t>04</a:t>
                      </a:r>
                      <a:endParaRPr lang="en-MY" sz="975" b="0" i="0">
                        <a:effectLst/>
                        <a:latin typeface="system-ui"/>
                      </a:endParaRPr>
                    </a:p>
                  </a:txBody>
                  <a:tcPr anchor="ctr"/>
                </a:tc>
                <a:tc>
                  <a:txBody>
                    <a:bodyPr/>
                    <a:lstStyle/>
                    <a:p>
                      <a:pPr marL="0" marR="0" algn="r" fontAlgn="ctr">
                        <a:buNone/>
                      </a:pPr>
                      <a:r>
                        <a:rPr lang="en-MY" sz="975">
                          <a:effectLst/>
                        </a:rPr>
                        <a:t>Failure (drone ship)</a:t>
                      </a:r>
                      <a:endParaRPr lang="en-MY" sz="975" b="0" i="0">
                        <a:effectLst/>
                        <a:latin typeface="system-ui"/>
                      </a:endParaRPr>
                    </a:p>
                  </a:txBody>
                  <a:tcPr anchor="ctr"/>
                </a:tc>
                <a:tc>
                  <a:txBody>
                    <a:bodyPr/>
                    <a:lstStyle/>
                    <a:p>
                      <a:pPr marL="0" marR="0" algn="r" fontAlgn="ctr">
                        <a:buNone/>
                      </a:pPr>
                      <a:r>
                        <a:rPr lang="en-MY" sz="975">
                          <a:effectLst/>
                        </a:rPr>
                        <a:t>F9 v1.1 B1015</a:t>
                      </a:r>
                      <a:endParaRPr lang="en-MY" sz="975" b="0" i="0">
                        <a:effectLst/>
                        <a:latin typeface="system-ui"/>
                      </a:endParaRPr>
                    </a:p>
                  </a:txBody>
                  <a:tcPr anchor="ctr"/>
                </a:tc>
                <a:tc>
                  <a:txBody>
                    <a:bodyPr/>
                    <a:lstStyle/>
                    <a:p>
                      <a:pPr marL="0" marR="0" algn="r" fontAlgn="ctr">
                        <a:buNone/>
                      </a:pPr>
                      <a:r>
                        <a:rPr lang="en-MY" sz="975" dirty="0">
                          <a:effectLst/>
                        </a:rPr>
                        <a:t>CCAFS LC-40</a:t>
                      </a:r>
                      <a:endParaRPr lang="en-MY" sz="975" b="0" i="0" dirty="0">
                        <a:effectLst/>
                        <a:latin typeface="system-ui"/>
                      </a:endParaRPr>
                    </a:p>
                  </a:txBody>
                  <a:tcPr anchor="ctr"/>
                </a:tc>
                <a:extLst>
                  <a:ext uri="{0D108BD9-81ED-4DB2-BD59-A6C34878D82A}">
                    <a16:rowId xmlns:a16="http://schemas.microsoft.com/office/drawing/2014/main" val="2134660581"/>
                  </a:ext>
                </a:extLst>
              </a:tr>
            </a:tbl>
          </a:graphicData>
        </a:graphic>
      </p:graphicFrame>
      <p:sp>
        <p:nvSpPr>
          <p:cNvPr id="7" name="TextBox 6">
            <a:extLst>
              <a:ext uri="{FF2B5EF4-FFF2-40B4-BE49-F238E27FC236}">
                <a16:creationId xmlns:a16="http://schemas.microsoft.com/office/drawing/2014/main" id="{09A7CD22-BFF7-22DE-5D5E-934C2666C752}"/>
              </a:ext>
            </a:extLst>
          </p:cNvPr>
          <p:cNvSpPr txBox="1"/>
          <p:nvPr/>
        </p:nvSpPr>
        <p:spPr>
          <a:xfrm>
            <a:off x="770011" y="1340644"/>
            <a:ext cx="6096000" cy="1477328"/>
          </a:xfrm>
          <a:prstGeom prst="rect">
            <a:avLst/>
          </a:prstGeom>
          <a:noFill/>
        </p:spPr>
        <p:txBody>
          <a:bodyPr wrap="square">
            <a:spAutoFit/>
          </a:bodyPr>
          <a:lstStyle/>
          <a:p>
            <a:r>
              <a:rPr lang="en-MY" dirty="0"/>
              <a:t>SELECT </a:t>
            </a:r>
            <a:r>
              <a:rPr lang="en-MY" dirty="0" err="1"/>
              <a:t>substr</a:t>
            </a:r>
            <a:r>
              <a:rPr lang="en-MY" dirty="0"/>
              <a:t>(Date, 6, 2) AS Month, </a:t>
            </a:r>
            <a:r>
              <a:rPr lang="en-MY" dirty="0" err="1"/>
              <a:t>Landing_Outcome</a:t>
            </a:r>
            <a:r>
              <a:rPr lang="en-MY" dirty="0"/>
              <a:t>, </a:t>
            </a:r>
            <a:r>
              <a:rPr lang="en-MY" dirty="0" err="1"/>
              <a:t>Booster_Version</a:t>
            </a:r>
            <a:r>
              <a:rPr lang="en-MY" dirty="0"/>
              <a:t>, </a:t>
            </a:r>
            <a:r>
              <a:rPr lang="en-MY" dirty="0" err="1"/>
              <a:t>Launch_Site</a:t>
            </a:r>
            <a:r>
              <a:rPr lang="en-MY" dirty="0"/>
              <a:t> </a:t>
            </a:r>
          </a:p>
          <a:p>
            <a:r>
              <a:rPr lang="en-MY" dirty="0"/>
              <a:t>FROM SPACEXTABLE </a:t>
            </a:r>
          </a:p>
          <a:p>
            <a:r>
              <a:rPr lang="en-MY" dirty="0"/>
              <a:t>WHERE </a:t>
            </a:r>
            <a:r>
              <a:rPr lang="en-MY" dirty="0" err="1"/>
              <a:t>substr</a:t>
            </a:r>
            <a:r>
              <a:rPr lang="en-MY" dirty="0"/>
              <a:t>(Date, 0, 5) = '2015' </a:t>
            </a:r>
          </a:p>
          <a:p>
            <a:r>
              <a:rPr lang="en-MY" dirty="0"/>
              <a:t>  AND </a:t>
            </a:r>
            <a:r>
              <a:rPr lang="en-MY" dirty="0" err="1"/>
              <a:t>Landing_Outcome</a:t>
            </a:r>
            <a:r>
              <a:rPr lang="en-MY" dirty="0"/>
              <a:t> = 'Failure (drone ship)';</a:t>
            </a:r>
          </a:p>
        </p:txBody>
      </p:sp>
    </p:spTree>
    <p:extLst>
      <p:ext uri="{BB962C8B-B14F-4D97-AF65-F5344CB8AC3E}">
        <p14:creationId xmlns:p14="http://schemas.microsoft.com/office/powerpoint/2010/main" val="1398439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71610" y="4413541"/>
            <a:ext cx="9745589" cy="4351338"/>
          </a:xfrm>
          <a:prstGeom prst="rect">
            <a:avLst/>
          </a:prstGeom>
        </p:spPr>
        <p:txBody>
          <a:bodyPr lIns="91440" tIns="45720" rIns="91440" bIns="45720" anchor="t"/>
          <a:lstStyle/>
          <a:p>
            <a:pPr>
              <a:spcBef>
                <a:spcPts val="1400"/>
              </a:spcBef>
            </a:pPr>
            <a:r>
              <a:rPr lang="en-MY" sz="2400" dirty="0"/>
              <a:t>Ranks the recovery attempts across the first seven years; early flights mostly featured no recovery attempts (</a:t>
            </a:r>
            <a:r>
              <a:rPr lang="en-MY" dirty="0"/>
              <a:t>No attempt</a:t>
            </a:r>
            <a:r>
              <a:rPr lang="en-MY" sz="2400" dirty="0"/>
              <a:t>), while drone ship and ground pad landing successes steadily caught up by early 2017. </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
        <p:nvSpPr>
          <p:cNvPr id="6" name="TextBox 5">
            <a:extLst>
              <a:ext uri="{FF2B5EF4-FFF2-40B4-BE49-F238E27FC236}">
                <a16:creationId xmlns:a16="http://schemas.microsoft.com/office/drawing/2014/main" id="{28DFD998-BAB8-3CC5-1959-F697A52B54CE}"/>
              </a:ext>
            </a:extLst>
          </p:cNvPr>
          <p:cNvSpPr txBox="1"/>
          <p:nvPr/>
        </p:nvSpPr>
        <p:spPr>
          <a:xfrm>
            <a:off x="770011" y="1438274"/>
            <a:ext cx="6096000" cy="1477328"/>
          </a:xfrm>
          <a:prstGeom prst="rect">
            <a:avLst/>
          </a:prstGeom>
          <a:noFill/>
        </p:spPr>
        <p:txBody>
          <a:bodyPr wrap="square">
            <a:spAutoFit/>
          </a:bodyPr>
          <a:lstStyle/>
          <a:p>
            <a:r>
              <a:rPr lang="en-MY" dirty="0"/>
              <a:t>SELECT </a:t>
            </a:r>
            <a:r>
              <a:rPr lang="en-MY" dirty="0" err="1"/>
              <a:t>Landing_Outcome</a:t>
            </a:r>
            <a:r>
              <a:rPr lang="en-MY" dirty="0"/>
              <a:t>, COUNT(*) AS </a:t>
            </a:r>
            <a:r>
              <a:rPr lang="en-MY" dirty="0" err="1"/>
              <a:t>Outcome_Count</a:t>
            </a:r>
            <a:r>
              <a:rPr lang="en-MY" dirty="0"/>
              <a:t> </a:t>
            </a:r>
          </a:p>
          <a:p>
            <a:r>
              <a:rPr lang="en-MY" dirty="0"/>
              <a:t>FROM SPACEXTABLE </a:t>
            </a:r>
          </a:p>
          <a:p>
            <a:r>
              <a:rPr lang="en-MY" dirty="0"/>
              <a:t>WHERE Date BETWEEN '2010-06-04' AND '2017-03-20' </a:t>
            </a:r>
          </a:p>
          <a:p>
            <a:r>
              <a:rPr lang="en-MY" dirty="0"/>
              <a:t>GROUP BY </a:t>
            </a:r>
            <a:r>
              <a:rPr lang="en-MY" dirty="0" err="1"/>
              <a:t>Landing_Outcome</a:t>
            </a:r>
            <a:r>
              <a:rPr lang="en-MY" dirty="0"/>
              <a:t> </a:t>
            </a:r>
          </a:p>
          <a:p>
            <a:r>
              <a:rPr lang="en-MY" dirty="0"/>
              <a:t>ORDER BY </a:t>
            </a:r>
            <a:r>
              <a:rPr lang="en-MY" dirty="0" err="1"/>
              <a:t>Outcome_Count</a:t>
            </a:r>
            <a:r>
              <a:rPr lang="en-MY" dirty="0"/>
              <a:t> DESC;</a:t>
            </a:r>
          </a:p>
        </p:txBody>
      </p:sp>
      <p:graphicFrame>
        <p:nvGraphicFramePr>
          <p:cNvPr id="7" name="Table 6">
            <a:extLst>
              <a:ext uri="{FF2B5EF4-FFF2-40B4-BE49-F238E27FC236}">
                <a16:creationId xmlns:a16="http://schemas.microsoft.com/office/drawing/2014/main" id="{FDE20375-E7D1-091B-8030-9F3D9A1D6CC4}"/>
              </a:ext>
            </a:extLst>
          </p:cNvPr>
          <p:cNvGraphicFramePr>
            <a:graphicFrameLocks noGrp="1"/>
          </p:cNvGraphicFramePr>
          <p:nvPr>
            <p:extLst>
              <p:ext uri="{D42A27DB-BD31-4B8C-83A1-F6EECF244321}">
                <p14:modId xmlns:p14="http://schemas.microsoft.com/office/powerpoint/2010/main" val="2183870588"/>
              </p:ext>
            </p:extLst>
          </p:nvPr>
        </p:nvGraphicFramePr>
        <p:xfrm>
          <a:off x="6471920" y="1402834"/>
          <a:ext cx="5393884" cy="2697318"/>
        </p:xfrm>
        <a:graphic>
          <a:graphicData uri="http://schemas.openxmlformats.org/drawingml/2006/table">
            <a:tbl>
              <a:tblPr>
                <a:tableStyleId>{5C22544A-7EE6-4342-B048-85BDC9FD1C3A}</a:tableStyleId>
              </a:tblPr>
              <a:tblGrid>
                <a:gridCol w="2696942">
                  <a:extLst>
                    <a:ext uri="{9D8B030D-6E8A-4147-A177-3AD203B41FA5}">
                      <a16:colId xmlns:a16="http://schemas.microsoft.com/office/drawing/2014/main" val="1406281031"/>
                    </a:ext>
                  </a:extLst>
                </a:gridCol>
                <a:gridCol w="2696942">
                  <a:extLst>
                    <a:ext uri="{9D8B030D-6E8A-4147-A177-3AD203B41FA5}">
                      <a16:colId xmlns:a16="http://schemas.microsoft.com/office/drawing/2014/main" val="1657892152"/>
                    </a:ext>
                  </a:extLst>
                </a:gridCol>
              </a:tblGrid>
              <a:tr h="299702">
                <a:tc>
                  <a:txBody>
                    <a:bodyPr/>
                    <a:lstStyle/>
                    <a:p>
                      <a:pPr marL="0" marR="0" algn="r" fontAlgn="ctr">
                        <a:buNone/>
                      </a:pPr>
                      <a:r>
                        <a:rPr lang="en-MY" sz="975">
                          <a:effectLst/>
                        </a:rPr>
                        <a:t>Landing_Outcome</a:t>
                      </a:r>
                      <a:endParaRPr lang="en-MY" sz="975" b="1" i="0">
                        <a:effectLst/>
                        <a:latin typeface="system-ui"/>
                      </a:endParaRPr>
                    </a:p>
                  </a:txBody>
                  <a:tcPr anchor="ctr"/>
                </a:tc>
                <a:tc>
                  <a:txBody>
                    <a:bodyPr/>
                    <a:lstStyle/>
                    <a:p>
                      <a:pPr marL="0" marR="0" algn="r" fontAlgn="ctr">
                        <a:buNone/>
                      </a:pPr>
                      <a:r>
                        <a:rPr lang="en-MY" sz="975">
                          <a:effectLst/>
                        </a:rPr>
                        <a:t>Outcome_Count</a:t>
                      </a:r>
                      <a:endParaRPr lang="en-MY" sz="975" b="1" i="0">
                        <a:effectLst/>
                        <a:latin typeface="system-ui"/>
                      </a:endParaRPr>
                    </a:p>
                  </a:txBody>
                  <a:tcPr anchor="ctr"/>
                </a:tc>
                <a:extLst>
                  <a:ext uri="{0D108BD9-81ED-4DB2-BD59-A6C34878D82A}">
                    <a16:rowId xmlns:a16="http://schemas.microsoft.com/office/drawing/2014/main" val="426317860"/>
                  </a:ext>
                </a:extLst>
              </a:tr>
              <a:tr h="299702">
                <a:tc>
                  <a:txBody>
                    <a:bodyPr/>
                    <a:lstStyle/>
                    <a:p>
                      <a:pPr marL="0" marR="0" algn="r" fontAlgn="ctr">
                        <a:buNone/>
                      </a:pPr>
                      <a:r>
                        <a:rPr lang="en-MY" sz="975">
                          <a:effectLst/>
                        </a:rPr>
                        <a:t>No attempt</a:t>
                      </a:r>
                      <a:endParaRPr lang="en-MY" sz="975" b="0" i="0">
                        <a:effectLst/>
                        <a:latin typeface="system-ui"/>
                      </a:endParaRPr>
                    </a:p>
                  </a:txBody>
                  <a:tcPr anchor="ctr"/>
                </a:tc>
                <a:tc>
                  <a:txBody>
                    <a:bodyPr/>
                    <a:lstStyle/>
                    <a:p>
                      <a:pPr marL="0" marR="0" algn="r" fontAlgn="ctr">
                        <a:buNone/>
                      </a:pPr>
                      <a:r>
                        <a:rPr lang="en-MY" sz="975">
                          <a:effectLst/>
                        </a:rPr>
                        <a:t>10</a:t>
                      </a:r>
                      <a:endParaRPr lang="en-MY" sz="975" b="0" i="0">
                        <a:effectLst/>
                        <a:latin typeface="system-ui"/>
                      </a:endParaRPr>
                    </a:p>
                  </a:txBody>
                  <a:tcPr anchor="ctr"/>
                </a:tc>
                <a:extLst>
                  <a:ext uri="{0D108BD9-81ED-4DB2-BD59-A6C34878D82A}">
                    <a16:rowId xmlns:a16="http://schemas.microsoft.com/office/drawing/2014/main" val="2683242770"/>
                  </a:ext>
                </a:extLst>
              </a:tr>
              <a:tr h="299702">
                <a:tc>
                  <a:txBody>
                    <a:bodyPr/>
                    <a:lstStyle/>
                    <a:p>
                      <a:pPr marL="0" marR="0" algn="r" fontAlgn="ctr">
                        <a:buNone/>
                      </a:pPr>
                      <a:r>
                        <a:rPr lang="en-MY" sz="975">
                          <a:effectLst/>
                        </a:rPr>
                        <a:t>Success (drone ship)</a:t>
                      </a:r>
                      <a:endParaRPr lang="en-MY" sz="975" b="0" i="0">
                        <a:effectLst/>
                        <a:latin typeface="system-ui"/>
                      </a:endParaRPr>
                    </a:p>
                  </a:txBody>
                  <a:tcPr anchor="ctr"/>
                </a:tc>
                <a:tc>
                  <a:txBody>
                    <a:bodyPr/>
                    <a:lstStyle/>
                    <a:p>
                      <a:pPr marL="0" marR="0" algn="r" fontAlgn="ctr">
                        <a:buNone/>
                      </a:pPr>
                      <a:r>
                        <a:rPr lang="en-MY" sz="975">
                          <a:effectLst/>
                        </a:rPr>
                        <a:t>5</a:t>
                      </a:r>
                      <a:endParaRPr lang="en-MY" sz="975" b="0" i="0">
                        <a:effectLst/>
                        <a:latin typeface="system-ui"/>
                      </a:endParaRPr>
                    </a:p>
                  </a:txBody>
                  <a:tcPr anchor="ctr"/>
                </a:tc>
                <a:extLst>
                  <a:ext uri="{0D108BD9-81ED-4DB2-BD59-A6C34878D82A}">
                    <a16:rowId xmlns:a16="http://schemas.microsoft.com/office/drawing/2014/main" val="572355190"/>
                  </a:ext>
                </a:extLst>
              </a:tr>
              <a:tr h="299702">
                <a:tc>
                  <a:txBody>
                    <a:bodyPr/>
                    <a:lstStyle/>
                    <a:p>
                      <a:pPr marL="0" marR="0" algn="r" fontAlgn="ctr">
                        <a:buNone/>
                      </a:pPr>
                      <a:r>
                        <a:rPr lang="en-MY" sz="975">
                          <a:effectLst/>
                        </a:rPr>
                        <a:t>Failure (drone ship)</a:t>
                      </a:r>
                      <a:endParaRPr lang="en-MY" sz="975" b="0" i="0">
                        <a:effectLst/>
                        <a:latin typeface="system-ui"/>
                      </a:endParaRPr>
                    </a:p>
                  </a:txBody>
                  <a:tcPr anchor="ctr"/>
                </a:tc>
                <a:tc>
                  <a:txBody>
                    <a:bodyPr/>
                    <a:lstStyle/>
                    <a:p>
                      <a:pPr marL="0" marR="0" algn="r" fontAlgn="ctr">
                        <a:buNone/>
                      </a:pPr>
                      <a:r>
                        <a:rPr lang="en-MY" sz="975">
                          <a:effectLst/>
                        </a:rPr>
                        <a:t>5</a:t>
                      </a:r>
                      <a:endParaRPr lang="en-MY" sz="975" b="0" i="0">
                        <a:effectLst/>
                        <a:latin typeface="system-ui"/>
                      </a:endParaRPr>
                    </a:p>
                  </a:txBody>
                  <a:tcPr anchor="ctr"/>
                </a:tc>
                <a:extLst>
                  <a:ext uri="{0D108BD9-81ED-4DB2-BD59-A6C34878D82A}">
                    <a16:rowId xmlns:a16="http://schemas.microsoft.com/office/drawing/2014/main" val="4165674592"/>
                  </a:ext>
                </a:extLst>
              </a:tr>
              <a:tr h="299702">
                <a:tc>
                  <a:txBody>
                    <a:bodyPr/>
                    <a:lstStyle/>
                    <a:p>
                      <a:pPr marL="0" marR="0" algn="r" fontAlgn="ctr">
                        <a:buNone/>
                      </a:pPr>
                      <a:r>
                        <a:rPr lang="en-MY" sz="975">
                          <a:effectLst/>
                        </a:rPr>
                        <a:t>Success (ground pad)</a:t>
                      </a:r>
                      <a:endParaRPr lang="en-MY" sz="975" b="0" i="0">
                        <a:effectLst/>
                        <a:latin typeface="system-ui"/>
                      </a:endParaRPr>
                    </a:p>
                  </a:txBody>
                  <a:tcPr anchor="ctr"/>
                </a:tc>
                <a:tc>
                  <a:txBody>
                    <a:bodyPr/>
                    <a:lstStyle/>
                    <a:p>
                      <a:pPr marL="0" marR="0" algn="r" fontAlgn="ctr">
                        <a:buNone/>
                      </a:pPr>
                      <a:r>
                        <a:rPr lang="en-MY" sz="975">
                          <a:effectLst/>
                        </a:rPr>
                        <a:t>3</a:t>
                      </a:r>
                      <a:endParaRPr lang="en-MY" sz="975" b="0" i="0">
                        <a:effectLst/>
                        <a:latin typeface="system-ui"/>
                      </a:endParaRPr>
                    </a:p>
                  </a:txBody>
                  <a:tcPr anchor="ctr"/>
                </a:tc>
                <a:extLst>
                  <a:ext uri="{0D108BD9-81ED-4DB2-BD59-A6C34878D82A}">
                    <a16:rowId xmlns:a16="http://schemas.microsoft.com/office/drawing/2014/main" val="3861904042"/>
                  </a:ext>
                </a:extLst>
              </a:tr>
              <a:tr h="299702">
                <a:tc>
                  <a:txBody>
                    <a:bodyPr/>
                    <a:lstStyle/>
                    <a:p>
                      <a:pPr marL="0" marR="0" algn="r" fontAlgn="ctr">
                        <a:buNone/>
                      </a:pPr>
                      <a:r>
                        <a:rPr lang="en-MY" sz="975">
                          <a:effectLst/>
                        </a:rPr>
                        <a:t>Controlled (ocean)</a:t>
                      </a:r>
                      <a:endParaRPr lang="en-MY" sz="975" b="0" i="0">
                        <a:effectLst/>
                        <a:latin typeface="system-ui"/>
                      </a:endParaRPr>
                    </a:p>
                  </a:txBody>
                  <a:tcPr anchor="ctr"/>
                </a:tc>
                <a:tc>
                  <a:txBody>
                    <a:bodyPr/>
                    <a:lstStyle/>
                    <a:p>
                      <a:pPr marL="0" marR="0" algn="r" fontAlgn="ctr">
                        <a:buNone/>
                      </a:pPr>
                      <a:r>
                        <a:rPr lang="en-MY" sz="975">
                          <a:effectLst/>
                        </a:rPr>
                        <a:t>3</a:t>
                      </a:r>
                      <a:endParaRPr lang="en-MY" sz="975" b="0" i="0">
                        <a:effectLst/>
                        <a:latin typeface="system-ui"/>
                      </a:endParaRPr>
                    </a:p>
                  </a:txBody>
                  <a:tcPr anchor="ctr"/>
                </a:tc>
                <a:extLst>
                  <a:ext uri="{0D108BD9-81ED-4DB2-BD59-A6C34878D82A}">
                    <a16:rowId xmlns:a16="http://schemas.microsoft.com/office/drawing/2014/main" val="2865475845"/>
                  </a:ext>
                </a:extLst>
              </a:tr>
              <a:tr h="299702">
                <a:tc>
                  <a:txBody>
                    <a:bodyPr/>
                    <a:lstStyle/>
                    <a:p>
                      <a:pPr marL="0" marR="0" algn="r" fontAlgn="ctr">
                        <a:buNone/>
                      </a:pPr>
                      <a:r>
                        <a:rPr lang="en-MY" sz="975">
                          <a:effectLst/>
                        </a:rPr>
                        <a:t>Uncontrolled (ocean)</a:t>
                      </a:r>
                      <a:endParaRPr lang="en-MY" sz="975" b="0" i="0">
                        <a:effectLst/>
                        <a:latin typeface="system-ui"/>
                      </a:endParaRPr>
                    </a:p>
                  </a:txBody>
                  <a:tcPr anchor="ctr"/>
                </a:tc>
                <a:tc>
                  <a:txBody>
                    <a:bodyPr/>
                    <a:lstStyle/>
                    <a:p>
                      <a:pPr marL="0" marR="0" algn="r" fontAlgn="ctr">
                        <a:buNone/>
                      </a:pPr>
                      <a:r>
                        <a:rPr lang="en-MY" sz="975">
                          <a:effectLst/>
                        </a:rPr>
                        <a:t>2</a:t>
                      </a:r>
                      <a:endParaRPr lang="en-MY" sz="975" b="0" i="0">
                        <a:effectLst/>
                        <a:latin typeface="system-ui"/>
                      </a:endParaRPr>
                    </a:p>
                  </a:txBody>
                  <a:tcPr anchor="ctr"/>
                </a:tc>
                <a:extLst>
                  <a:ext uri="{0D108BD9-81ED-4DB2-BD59-A6C34878D82A}">
                    <a16:rowId xmlns:a16="http://schemas.microsoft.com/office/drawing/2014/main" val="2769432796"/>
                  </a:ext>
                </a:extLst>
              </a:tr>
              <a:tr h="299702">
                <a:tc>
                  <a:txBody>
                    <a:bodyPr/>
                    <a:lstStyle/>
                    <a:p>
                      <a:pPr marL="0" marR="0" algn="r" fontAlgn="ctr">
                        <a:buNone/>
                      </a:pPr>
                      <a:r>
                        <a:rPr lang="en-MY" sz="975">
                          <a:effectLst/>
                        </a:rPr>
                        <a:t>Failure (parachute)</a:t>
                      </a:r>
                      <a:endParaRPr lang="en-MY" sz="975" b="0" i="0">
                        <a:effectLst/>
                        <a:latin typeface="system-ui"/>
                      </a:endParaRPr>
                    </a:p>
                  </a:txBody>
                  <a:tcPr anchor="ctr"/>
                </a:tc>
                <a:tc>
                  <a:txBody>
                    <a:bodyPr/>
                    <a:lstStyle/>
                    <a:p>
                      <a:pPr marL="0" marR="0" algn="r" fontAlgn="ctr">
                        <a:buNone/>
                      </a:pPr>
                      <a:r>
                        <a:rPr lang="en-MY" sz="975">
                          <a:effectLst/>
                        </a:rPr>
                        <a:t>2</a:t>
                      </a:r>
                      <a:endParaRPr lang="en-MY" sz="975" b="0" i="0">
                        <a:effectLst/>
                        <a:latin typeface="system-ui"/>
                      </a:endParaRPr>
                    </a:p>
                  </a:txBody>
                  <a:tcPr anchor="ctr"/>
                </a:tc>
                <a:extLst>
                  <a:ext uri="{0D108BD9-81ED-4DB2-BD59-A6C34878D82A}">
                    <a16:rowId xmlns:a16="http://schemas.microsoft.com/office/drawing/2014/main" val="2964661998"/>
                  </a:ext>
                </a:extLst>
              </a:tr>
              <a:tr h="299702">
                <a:tc>
                  <a:txBody>
                    <a:bodyPr/>
                    <a:lstStyle/>
                    <a:p>
                      <a:pPr marL="0" marR="0" algn="r" fontAlgn="ctr">
                        <a:buNone/>
                      </a:pPr>
                      <a:r>
                        <a:rPr lang="en-MY" sz="975">
                          <a:effectLst/>
                        </a:rPr>
                        <a:t>Precluded (drone ship)</a:t>
                      </a:r>
                      <a:endParaRPr lang="en-MY" sz="975" b="0" i="0">
                        <a:effectLst/>
                        <a:latin typeface="system-ui"/>
                      </a:endParaRPr>
                    </a:p>
                  </a:txBody>
                  <a:tcPr anchor="ctr"/>
                </a:tc>
                <a:tc>
                  <a:txBody>
                    <a:bodyPr/>
                    <a:lstStyle/>
                    <a:p>
                      <a:pPr marL="0" marR="0" algn="r" fontAlgn="ctr">
                        <a:buNone/>
                      </a:pPr>
                      <a:r>
                        <a:rPr lang="en-MY" sz="975" dirty="0">
                          <a:effectLst/>
                        </a:rPr>
                        <a:t>1</a:t>
                      </a:r>
                      <a:endParaRPr lang="en-MY" sz="975" b="0" i="0" dirty="0">
                        <a:effectLst/>
                        <a:latin typeface="system-ui"/>
                      </a:endParaRPr>
                    </a:p>
                  </a:txBody>
                  <a:tcPr anchor="ctr"/>
                </a:tc>
                <a:extLst>
                  <a:ext uri="{0D108BD9-81ED-4DB2-BD59-A6C34878D82A}">
                    <a16:rowId xmlns:a16="http://schemas.microsoft.com/office/drawing/2014/main" val="4264105087"/>
                  </a:ext>
                </a:extLst>
              </a:tr>
            </a:tbl>
          </a:graphicData>
        </a:graphic>
      </p:graphicFrame>
    </p:spTree>
    <p:extLst>
      <p:ext uri="{BB962C8B-B14F-4D97-AF65-F5344CB8AC3E}">
        <p14:creationId xmlns:p14="http://schemas.microsoft.com/office/powerpoint/2010/main" val="3975168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3849904"/>
            <a:ext cx="9745589" cy="4351338"/>
          </a:xfrm>
          <a:prstGeom prst="rect">
            <a:avLst/>
          </a:prstGeom>
        </p:spPr>
        <p:txBody>
          <a:bodyPr lIns="91440" tIns="45720" rIns="91440" bIns="45720" anchor="t">
            <a:normAutofit/>
          </a:bodyPr>
          <a:lstStyle/>
          <a:p>
            <a:pPr lvl="0"/>
            <a:r>
              <a:rPr lang="en-MY" sz="2000" b="1" dirty="0"/>
              <a:t>Proximity to Coastlines:</a:t>
            </a:r>
            <a:r>
              <a:rPr lang="en-MY" sz="2000" dirty="0"/>
              <a:t> All launch complexes are located directly along ocean coastlines (Vandenberg on the Pacific, Cape Canaveral on the Atlantic) so launch trajectories and stage separations occur safely over water rather than populated landmasses.</a:t>
            </a:r>
          </a:p>
          <a:p>
            <a:pPr lvl="0"/>
            <a:r>
              <a:rPr lang="en-MY" sz="2000" b="1" dirty="0"/>
              <a:t>Proximity to the Equator:</a:t>
            </a:r>
            <a:r>
              <a:rPr lang="en-MY" sz="2000" dirty="0"/>
              <a:t> The Florida sites (CCAFS / KSC at ~28.5° N) take advantage of Earth's rotational speed, maximizing orbital launch efficiency for equatorial and geostationary missions.</a:t>
            </a:r>
          </a:p>
          <a:p>
            <a:pPr lvl="0"/>
            <a:r>
              <a:rPr lang="en-MY" sz="2000" b="1" dirty="0"/>
              <a:t>Polar Trajectory (VAFB):</a:t>
            </a:r>
            <a:r>
              <a:rPr lang="en-MY" sz="2000" dirty="0"/>
              <a:t> Vandenberg Space Force Base in California enables southward launch trajectories necessary for polar and Sun-synchronous orbits (SSO) without overflying domestic territory.</a:t>
            </a:r>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MY" dirty="0"/>
              <a:t>SpaceX Launch Sites Geographical Locations</a:t>
            </a:r>
            <a:endParaRPr lang="en-US" dirty="0">
              <a:solidFill>
                <a:srgbClr val="0B49CB"/>
              </a:solidFill>
              <a:latin typeface="Abadi"/>
            </a:endParaRPr>
          </a:p>
        </p:txBody>
      </p:sp>
      <p:pic>
        <p:nvPicPr>
          <p:cNvPr id="6" name="Picture 5">
            <a:extLst>
              <a:ext uri="{FF2B5EF4-FFF2-40B4-BE49-F238E27FC236}">
                <a16:creationId xmlns:a16="http://schemas.microsoft.com/office/drawing/2014/main" id="{01BF7046-DCEA-05DA-4059-EE30A4BEBBE6}"/>
              </a:ext>
            </a:extLst>
          </p:cNvPr>
          <p:cNvPicPr>
            <a:picLocks noChangeAspect="1"/>
          </p:cNvPicPr>
          <p:nvPr/>
        </p:nvPicPr>
        <p:blipFill>
          <a:blip r:embed="rId3"/>
          <a:stretch>
            <a:fillRect/>
          </a:stretch>
        </p:blipFill>
        <p:spPr>
          <a:xfrm>
            <a:off x="1054491" y="1529250"/>
            <a:ext cx="4771785" cy="2320653"/>
          </a:xfrm>
          <a:prstGeom prst="rect">
            <a:avLst/>
          </a:prstGeom>
        </p:spPr>
      </p:pic>
    </p:spTree>
    <p:extLst>
      <p:ext uri="{BB962C8B-B14F-4D97-AF65-F5344CB8AC3E}">
        <p14:creationId xmlns:p14="http://schemas.microsoft.com/office/powerpoint/2010/main" val="981671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4202895"/>
            <a:ext cx="9745589" cy="2451735"/>
          </a:xfrm>
          <a:prstGeom prst="rect">
            <a:avLst/>
          </a:prstGeom>
        </p:spPr>
        <p:txBody>
          <a:bodyPr lIns="91440" tIns="45720" rIns="91440" bIns="45720" anchor="t">
            <a:normAutofit/>
          </a:bodyPr>
          <a:lstStyle/>
          <a:p>
            <a:pPr lvl="0"/>
            <a:r>
              <a:rPr lang="en-MY" sz="2000" b="1" dirty="0"/>
              <a:t>Outcome Markers:</a:t>
            </a:r>
            <a:r>
              <a:rPr lang="en-MY" sz="2000" dirty="0"/>
              <a:t> Markers are color-coded where green denotes a successful booster landing recovery (Class 1) and red denotes a failed or unrecovered attempt (Class 0).</a:t>
            </a:r>
          </a:p>
          <a:p>
            <a:pPr lvl="0"/>
            <a:r>
              <a:rPr lang="en-MY" sz="2000" b="1" dirty="0"/>
              <a:t>Site Performance:</a:t>
            </a:r>
            <a:r>
              <a:rPr lang="en-MY" sz="2000" dirty="0"/>
              <a:t> Launch sites with higher total flight density (CCAFS SLC-40 / LC-40) show an early cluster of failed attempts that transitioned into consistent successes as booster reuse technology matured.</a:t>
            </a:r>
          </a:p>
          <a:p>
            <a:pPr lvl="0"/>
            <a:r>
              <a:rPr lang="en-MY" sz="2000" b="1" dirty="0"/>
              <a:t>Cluster Optimization:</a:t>
            </a:r>
            <a:r>
              <a:rPr lang="en-MY" sz="2000" dirty="0"/>
              <a:t> The </a:t>
            </a:r>
            <a:r>
              <a:rPr lang="en-MY" sz="2000" dirty="0" err="1"/>
              <a:t>MarkerCluster</a:t>
            </a:r>
            <a:r>
              <a:rPr lang="en-MY" sz="2000" dirty="0"/>
              <a:t> feature clusters geographically overlapping launches, making site-specific recovery rates easily distinguishable upon zooming.</a:t>
            </a:r>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MY" dirty="0"/>
              <a:t>Launch Site Outcome Clustering Analysis</a:t>
            </a:r>
            <a:endParaRPr lang="en-US" dirty="0">
              <a:solidFill>
                <a:srgbClr val="0B49CB"/>
              </a:solidFill>
              <a:latin typeface="Abadi"/>
            </a:endParaRPr>
          </a:p>
        </p:txBody>
      </p:sp>
      <p:pic>
        <p:nvPicPr>
          <p:cNvPr id="4" name="Picture 3">
            <a:extLst>
              <a:ext uri="{FF2B5EF4-FFF2-40B4-BE49-F238E27FC236}">
                <a16:creationId xmlns:a16="http://schemas.microsoft.com/office/drawing/2014/main" id="{56548E64-2454-5990-67AD-571094433BCA}"/>
              </a:ext>
            </a:extLst>
          </p:cNvPr>
          <p:cNvPicPr>
            <a:picLocks noChangeAspect="1"/>
          </p:cNvPicPr>
          <p:nvPr/>
        </p:nvPicPr>
        <p:blipFill>
          <a:blip r:embed="rId3"/>
          <a:stretch>
            <a:fillRect/>
          </a:stretch>
        </p:blipFill>
        <p:spPr>
          <a:xfrm>
            <a:off x="770011" y="1483507"/>
            <a:ext cx="4876801" cy="2719388"/>
          </a:xfrm>
          <a:prstGeom prst="rect">
            <a:avLst/>
          </a:prstGeom>
        </p:spPr>
      </p:pic>
    </p:spTree>
    <p:extLst>
      <p:ext uri="{BB962C8B-B14F-4D97-AF65-F5344CB8AC3E}">
        <p14:creationId xmlns:p14="http://schemas.microsoft.com/office/powerpoint/2010/main" val="239597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38</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3826589"/>
            <a:ext cx="8597827" cy="2860992"/>
          </a:xfrm>
          <a:prstGeom prst="rect">
            <a:avLst/>
          </a:prstGeom>
        </p:spPr>
        <p:txBody>
          <a:bodyPr lIns="91440" tIns="45720" rIns="91440" bIns="45720" anchor="t">
            <a:normAutofit/>
          </a:bodyPr>
          <a:lstStyle/>
          <a:p>
            <a:pPr lvl="0"/>
            <a:r>
              <a:rPr lang="en-MY" sz="2000" b="1" dirty="0"/>
              <a:t>Proximity to Coastline:</a:t>
            </a:r>
            <a:r>
              <a:rPr lang="en-MY" sz="2000" dirty="0"/>
              <a:t> Launch pads are positioned within ~0.90 km of the coastline, allowing rockets to clear land within seconds of liftoff to mitigate hazards.</a:t>
            </a:r>
          </a:p>
          <a:p>
            <a:pPr lvl="0"/>
            <a:r>
              <a:rPr lang="en-MY" sz="2000" b="1" dirty="0"/>
              <a:t>Proximity to Highways &amp; Railroads:</a:t>
            </a:r>
            <a:r>
              <a:rPr lang="en-MY" sz="2000" dirty="0"/>
              <a:t> Sites are directly linked to logistics corridors (e.g., Samuel C Phillips Pkwy / railways within 1 km) for transporting massive rocket boosters and payloads.</a:t>
            </a:r>
          </a:p>
          <a:p>
            <a:pPr lvl="0"/>
            <a:r>
              <a:rPr lang="en-MY" sz="2000" b="1" dirty="0"/>
              <a:t>Safety Distance from Urban Areas:</a:t>
            </a:r>
            <a:r>
              <a:rPr lang="en-MY" sz="2000" dirty="0"/>
              <a:t> Major civilian population </a:t>
            </a:r>
            <a:r>
              <a:rPr lang="en-MY" sz="2000" dirty="0" err="1"/>
              <a:t>centers</a:t>
            </a:r>
            <a:r>
              <a:rPr lang="en-MY" sz="2000" dirty="0"/>
              <a:t> are kept at a safe buffer distance (&gt;15–20 km) to safeguard against launch anomalies and acoustic shockwaves.</a:t>
            </a:r>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MY" dirty="0"/>
              <a:t>Launch Complex Proximity to Critical Infrastructure and Coastline</a:t>
            </a:r>
            <a:endParaRPr lang="en-US" dirty="0">
              <a:solidFill>
                <a:srgbClr val="0B49CB"/>
              </a:solidFill>
              <a:latin typeface="Abadi"/>
            </a:endParaRPr>
          </a:p>
        </p:txBody>
      </p:sp>
      <p:pic>
        <p:nvPicPr>
          <p:cNvPr id="4" name="Picture 3">
            <a:extLst>
              <a:ext uri="{FF2B5EF4-FFF2-40B4-BE49-F238E27FC236}">
                <a16:creationId xmlns:a16="http://schemas.microsoft.com/office/drawing/2014/main" id="{93AB9A7A-32E7-16B4-8477-C2593824EC6B}"/>
              </a:ext>
            </a:extLst>
          </p:cNvPr>
          <p:cNvPicPr>
            <a:picLocks noChangeAspect="1"/>
          </p:cNvPicPr>
          <p:nvPr/>
        </p:nvPicPr>
        <p:blipFill>
          <a:blip r:embed="rId3"/>
          <a:stretch>
            <a:fillRect/>
          </a:stretch>
        </p:blipFill>
        <p:spPr>
          <a:xfrm>
            <a:off x="770011" y="1451292"/>
            <a:ext cx="5120640" cy="2375297"/>
          </a:xfrm>
          <a:prstGeom prst="rect">
            <a:avLst/>
          </a:prstGeom>
        </p:spPr>
      </p:pic>
    </p:spTree>
    <p:extLst>
      <p:ext uri="{BB962C8B-B14F-4D97-AF65-F5344CB8AC3E}">
        <p14:creationId xmlns:p14="http://schemas.microsoft.com/office/powerpoint/2010/main" val="232499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658251" y="4058566"/>
            <a:ext cx="9745589" cy="4351338"/>
          </a:xfrm>
          <a:prstGeom prst="rect">
            <a:avLst/>
          </a:prstGeom>
        </p:spPr>
        <p:txBody>
          <a:bodyPr lIns="91440" tIns="45720" rIns="91440" bIns="45720" anchor="t">
            <a:normAutofit/>
          </a:bodyPr>
          <a:lstStyle/>
          <a:p>
            <a:pPr lvl="0"/>
            <a:r>
              <a:rPr lang="en-MY" sz="2000" b="1" dirty="0"/>
              <a:t>Success Contribution:</a:t>
            </a:r>
            <a:r>
              <a:rPr lang="en-MY" sz="2000" dirty="0"/>
              <a:t> The pie chart illustrates the breakdown of total successful recoveries across all launch complexes:</a:t>
            </a:r>
          </a:p>
          <a:p>
            <a:pPr lvl="1"/>
            <a:r>
              <a:rPr lang="en-MY" sz="2000" b="1" dirty="0"/>
              <a:t>KSC LC-39A:</a:t>
            </a:r>
            <a:r>
              <a:rPr lang="en-MY" sz="2000" dirty="0"/>
              <a:t> 41.7% of all successful landings (10 successes).</a:t>
            </a:r>
          </a:p>
          <a:p>
            <a:pPr lvl="1"/>
            <a:r>
              <a:rPr lang="en-MY" sz="2000" b="1" dirty="0"/>
              <a:t>CCAFS LC-40:</a:t>
            </a:r>
            <a:r>
              <a:rPr lang="en-MY" sz="2000" dirty="0"/>
              <a:t> 29.2% of all successes (7 successes).</a:t>
            </a:r>
          </a:p>
          <a:p>
            <a:pPr lvl="1"/>
            <a:r>
              <a:rPr lang="en-MY" sz="2000" b="1" dirty="0"/>
              <a:t>VAFB SLC-4E:</a:t>
            </a:r>
            <a:r>
              <a:rPr lang="en-MY" sz="2000" dirty="0"/>
              <a:t> 16.7% of all successes (4 successes).</a:t>
            </a:r>
          </a:p>
          <a:p>
            <a:pPr lvl="1"/>
            <a:r>
              <a:rPr lang="en-MY" sz="2000" b="1" dirty="0"/>
              <a:t>CCAFS SLC-40:</a:t>
            </a:r>
            <a:r>
              <a:rPr lang="en-MY" sz="2000" dirty="0"/>
              <a:t> 12.5% of all successes (3 successes).</a:t>
            </a:r>
          </a:p>
          <a:p>
            <a:pPr lvl="0"/>
            <a:r>
              <a:rPr lang="en-MY" sz="2000" b="1" dirty="0"/>
              <a:t>Primary Finding:</a:t>
            </a:r>
            <a:r>
              <a:rPr lang="en-MY" sz="2000" dirty="0"/>
              <a:t> </a:t>
            </a:r>
            <a:r>
              <a:rPr lang="en-MY" sz="2000" b="1" dirty="0"/>
              <a:t>KSC LC-39A</a:t>
            </a:r>
            <a:r>
              <a:rPr lang="en-MY" sz="2000" dirty="0"/>
              <a:t> contributed the highest number of successful booster landings among all SpaceX facilities.</a:t>
            </a:r>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MY" dirty="0"/>
              <a:t>Total Success Launches by Launch Site (All Sites)</a:t>
            </a:r>
            <a:endParaRPr lang="en-US" dirty="0">
              <a:solidFill>
                <a:srgbClr val="0B49CB"/>
              </a:solidFill>
              <a:latin typeface="Abadi"/>
            </a:endParaRPr>
          </a:p>
        </p:txBody>
      </p:sp>
      <p:pic>
        <p:nvPicPr>
          <p:cNvPr id="4" name="Picture 3">
            <a:extLst>
              <a:ext uri="{FF2B5EF4-FFF2-40B4-BE49-F238E27FC236}">
                <a16:creationId xmlns:a16="http://schemas.microsoft.com/office/drawing/2014/main" id="{E0EF2246-5855-AAF8-C23A-2D568A133099}"/>
              </a:ext>
            </a:extLst>
          </p:cNvPr>
          <p:cNvPicPr>
            <a:picLocks noChangeAspect="1"/>
          </p:cNvPicPr>
          <p:nvPr/>
        </p:nvPicPr>
        <p:blipFill>
          <a:blip r:embed="rId3"/>
          <a:stretch>
            <a:fillRect/>
          </a:stretch>
        </p:blipFill>
        <p:spPr>
          <a:xfrm>
            <a:off x="770010" y="1447800"/>
            <a:ext cx="5102470" cy="2551235"/>
          </a:xfrm>
          <a:prstGeom prst="rect">
            <a:avLst/>
          </a:prstGeom>
        </p:spPr>
      </p:pic>
    </p:spTree>
    <p:extLst>
      <p:ext uri="{BB962C8B-B14F-4D97-AF65-F5344CB8AC3E}">
        <p14:creationId xmlns:p14="http://schemas.microsoft.com/office/powerpoint/2010/main" val="700132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7" y="1674235"/>
            <a:ext cx="6814853" cy="4351338"/>
          </a:xfrm>
          <a:prstGeom prst="rect">
            <a:avLst/>
          </a:prstGeom>
        </p:spPr>
        <p:txBody>
          <a:bodyPr lIns="91440" tIns="45720" rIns="91440" bIns="45720" anchor="t">
            <a:noAutofit/>
          </a:bodyPr>
          <a:lstStyle/>
          <a:p>
            <a:pPr lvl="0"/>
            <a:r>
              <a:rPr lang="en-MY" sz="2000" b="1" dirty="0"/>
              <a:t>Highest Success Rate:</a:t>
            </a:r>
            <a:r>
              <a:rPr lang="en-MY" sz="2000" dirty="0"/>
              <a:t> When filtering the dashboard by specific launch sites, </a:t>
            </a:r>
            <a:r>
              <a:rPr lang="en-MY" sz="2000" b="1" dirty="0"/>
              <a:t>KSC LC-39A</a:t>
            </a:r>
            <a:r>
              <a:rPr lang="en-MY" sz="2000" dirty="0"/>
              <a:t> demonstrates the highest success ratio at </a:t>
            </a:r>
            <a:r>
              <a:rPr lang="en-MY" sz="2000" b="1" dirty="0"/>
              <a:t>76.9%</a:t>
            </a:r>
            <a:r>
              <a:rPr lang="en-MY" sz="2000" dirty="0"/>
              <a:t> (10 successful landings out of 13 total missions).</a:t>
            </a:r>
          </a:p>
          <a:p>
            <a:pPr lvl="0"/>
            <a:r>
              <a:rPr lang="en-MY" sz="2000" b="1" dirty="0"/>
              <a:t>Comparison to Other Sites:</a:t>
            </a:r>
            <a:endParaRPr lang="en-MY" sz="2000" dirty="0"/>
          </a:p>
          <a:p>
            <a:pPr lvl="1"/>
            <a:r>
              <a:rPr lang="en-MY" sz="2000" b="1" dirty="0"/>
              <a:t>KSC LC-39A:</a:t>
            </a:r>
            <a:r>
              <a:rPr lang="en-MY" sz="2000" dirty="0"/>
              <a:t> 76.9% success rate.</a:t>
            </a:r>
          </a:p>
          <a:p>
            <a:pPr lvl="1"/>
            <a:r>
              <a:rPr lang="en-MY" sz="2000" b="1" dirty="0"/>
              <a:t>CCAFS SLC-40:</a:t>
            </a:r>
            <a:r>
              <a:rPr lang="en-MY" sz="2000" dirty="0"/>
              <a:t> 42.9% success rate.</a:t>
            </a:r>
          </a:p>
          <a:p>
            <a:pPr lvl="1"/>
            <a:r>
              <a:rPr lang="en-MY" sz="2000" b="1" dirty="0"/>
              <a:t>VAFB SLC-4E:</a:t>
            </a:r>
            <a:r>
              <a:rPr lang="en-MY" sz="2000" dirty="0"/>
              <a:t> 40.0% success rate.</a:t>
            </a:r>
          </a:p>
          <a:p>
            <a:pPr lvl="1"/>
            <a:r>
              <a:rPr lang="en-MY" sz="2000" b="1" dirty="0"/>
              <a:t>CCAFS LC-40:</a:t>
            </a:r>
            <a:r>
              <a:rPr lang="en-MY" sz="2000" dirty="0"/>
              <a:t> 26.9% success rate.</a:t>
            </a:r>
          </a:p>
          <a:p>
            <a:pPr lvl="0"/>
            <a:r>
              <a:rPr lang="en-MY" sz="2000" b="1" dirty="0"/>
              <a:t>Key Takeaway:</a:t>
            </a:r>
            <a:r>
              <a:rPr lang="en-MY" sz="2000" dirty="0"/>
              <a:t> Launch pad </a:t>
            </a:r>
            <a:r>
              <a:rPr lang="en-MY" sz="2000" b="1" dirty="0"/>
              <a:t>KSC LC-39A</a:t>
            </a:r>
            <a:r>
              <a:rPr lang="en-MY" sz="2000" dirty="0"/>
              <a:t> has the lowest failure rate (23.1%), making it the most reliable site for successful first-stage booster recovery.</a:t>
            </a:r>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MY" dirty="0"/>
              <a:t>Launch Success Ratio for Site KSC LC-39A</a:t>
            </a:r>
            <a:endParaRPr lang="en-US" dirty="0">
              <a:solidFill>
                <a:srgbClr val="0B49CB"/>
              </a:solidFill>
              <a:latin typeface="Abadi"/>
            </a:endParaRPr>
          </a:p>
        </p:txBody>
      </p:sp>
      <p:pic>
        <p:nvPicPr>
          <p:cNvPr id="4" name="Picture 3">
            <a:extLst>
              <a:ext uri="{FF2B5EF4-FFF2-40B4-BE49-F238E27FC236}">
                <a16:creationId xmlns:a16="http://schemas.microsoft.com/office/drawing/2014/main" id="{3D94AE43-52DA-B796-5536-9432A0E3B7AC}"/>
              </a:ext>
            </a:extLst>
          </p:cNvPr>
          <p:cNvPicPr>
            <a:picLocks noChangeAspect="1"/>
          </p:cNvPicPr>
          <p:nvPr/>
        </p:nvPicPr>
        <p:blipFill>
          <a:blip r:embed="rId3"/>
          <a:stretch>
            <a:fillRect/>
          </a:stretch>
        </p:blipFill>
        <p:spPr>
          <a:xfrm>
            <a:off x="7772400" y="1678970"/>
            <a:ext cx="3905426" cy="3253708"/>
          </a:xfrm>
          <a:prstGeom prst="rect">
            <a:avLst/>
          </a:prstGeom>
        </p:spPr>
      </p:pic>
    </p:spTree>
    <p:extLst>
      <p:ext uri="{BB962C8B-B14F-4D97-AF65-F5344CB8AC3E}">
        <p14:creationId xmlns:p14="http://schemas.microsoft.com/office/powerpoint/2010/main" val="18661607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42</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575377"/>
            <a:ext cx="6757520" cy="4351338"/>
          </a:xfrm>
          <a:prstGeom prst="rect">
            <a:avLst/>
          </a:prstGeom>
        </p:spPr>
        <p:txBody>
          <a:bodyPr lIns="91440" tIns="45720" rIns="91440" bIns="45720" anchor="t">
            <a:normAutofit fontScale="85000" lnSpcReduction="20000"/>
          </a:bodyPr>
          <a:lstStyle/>
          <a:p>
            <a:pPr lvl="0"/>
            <a:r>
              <a:rPr lang="en-MY" b="1" dirty="0"/>
              <a:t>Optimal Payload Range:</a:t>
            </a:r>
            <a:r>
              <a:rPr lang="en-MY" dirty="0"/>
              <a:t> Boosters carrying payloads between </a:t>
            </a:r>
            <a:r>
              <a:rPr lang="en-MY" b="1" dirty="0"/>
              <a:t>2,000 kg and 5,000 kg</a:t>
            </a:r>
            <a:r>
              <a:rPr lang="en-MY" dirty="0"/>
              <a:t> achieve the most consistent landing recovery success rate (dense concentration of Class = 1 points).</a:t>
            </a:r>
          </a:p>
          <a:p>
            <a:pPr lvl="0"/>
            <a:r>
              <a:rPr lang="en-MY" b="1" dirty="0"/>
              <a:t>Heavy Payloads (&gt;9,000 kg):</a:t>
            </a:r>
            <a:r>
              <a:rPr lang="en-MY" dirty="0"/>
              <a:t> Shows a 100% booster recovery success rate for modern flights (such as Starlink deployments at 9,600 kg).</a:t>
            </a:r>
          </a:p>
          <a:p>
            <a:pPr lvl="0"/>
            <a:r>
              <a:rPr lang="en-MY" b="1" dirty="0"/>
              <a:t>Booster Version Performance:</a:t>
            </a:r>
            <a:endParaRPr lang="en-MY" dirty="0"/>
          </a:p>
          <a:p>
            <a:pPr lvl="1"/>
            <a:r>
              <a:rPr lang="en-MY" b="1" dirty="0"/>
              <a:t>Block 5 (B5) and B4:</a:t>
            </a:r>
            <a:r>
              <a:rPr lang="en-MY" dirty="0"/>
              <a:t> Exhibit superior recovery performance with virtually no booster loss in recent flights.</a:t>
            </a:r>
          </a:p>
          <a:p>
            <a:pPr lvl="1"/>
            <a:r>
              <a:rPr lang="en-MY" b="1" dirty="0"/>
              <a:t>Full Thrust (FT):</a:t>
            </a:r>
            <a:r>
              <a:rPr lang="en-MY" dirty="0"/>
              <a:t> Achieved consistent successes across both moderate and heavy payload ranges.</a:t>
            </a:r>
          </a:p>
          <a:p>
            <a:pPr lvl="1"/>
            <a:r>
              <a:rPr lang="en-MY" b="1" dirty="0"/>
              <a:t>v1.0 &amp; v1.1:</a:t>
            </a:r>
            <a:r>
              <a:rPr lang="en-MY" dirty="0"/>
              <a:t> Account for most failed attempts (Class = 0), which occurred predominantly during earlier test missions with lighter payloads (&lt;3,500 kg).</a:t>
            </a: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MY" dirty="0"/>
              <a:t>Correlation Between Payload Mass and Launch Success</a:t>
            </a:r>
            <a:endParaRPr lang="en-US" dirty="0">
              <a:solidFill>
                <a:srgbClr val="0B49CB"/>
              </a:solidFill>
              <a:latin typeface="Abadi"/>
            </a:endParaRPr>
          </a:p>
        </p:txBody>
      </p:sp>
      <p:pic>
        <p:nvPicPr>
          <p:cNvPr id="4" name="Picture 3">
            <a:extLst>
              <a:ext uri="{FF2B5EF4-FFF2-40B4-BE49-F238E27FC236}">
                <a16:creationId xmlns:a16="http://schemas.microsoft.com/office/drawing/2014/main" id="{AD1B1F9C-0E01-30E3-E083-15258FF3387E}"/>
              </a:ext>
            </a:extLst>
          </p:cNvPr>
          <p:cNvPicPr>
            <a:picLocks noChangeAspect="1"/>
          </p:cNvPicPr>
          <p:nvPr/>
        </p:nvPicPr>
        <p:blipFill>
          <a:blip r:embed="rId3"/>
          <a:stretch>
            <a:fillRect/>
          </a:stretch>
        </p:blipFill>
        <p:spPr>
          <a:xfrm>
            <a:off x="7527531" y="1575377"/>
            <a:ext cx="4115829" cy="3429000"/>
          </a:xfrm>
          <a:prstGeom prst="rect">
            <a:avLst/>
          </a:prstGeom>
        </p:spPr>
      </p:pic>
    </p:spTree>
    <p:extLst>
      <p:ext uri="{BB962C8B-B14F-4D97-AF65-F5344CB8AC3E}">
        <p14:creationId xmlns:p14="http://schemas.microsoft.com/office/powerpoint/2010/main" val="252359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627770" y="1523206"/>
            <a:ext cx="5325989" cy="3811588"/>
          </a:xfrm>
          <a:prstGeom prst="rect">
            <a:avLst/>
          </a:prstGeom>
        </p:spPr>
        <p:txBody>
          <a:bodyPr vert="horz" lIns="91440" tIns="45720" rIns="91440" bIns="45720" rtlCol="0" anchor="t">
            <a:noAutofit/>
          </a:bodyPr>
          <a:lstStyle/>
          <a:p>
            <a:pPr lvl="0"/>
            <a:r>
              <a:rPr lang="en-MY" sz="1600" b="1" dirty="0"/>
              <a:t>Model Training &amp; Tuning:</a:t>
            </a:r>
            <a:endParaRPr lang="en-MY" sz="1600" dirty="0"/>
          </a:p>
          <a:p>
            <a:pPr lvl="1"/>
            <a:r>
              <a:rPr lang="en-MY" sz="1600" dirty="0"/>
              <a:t>Four classification algorithms were trained using </a:t>
            </a:r>
            <a:r>
              <a:rPr lang="en-MY" sz="1600" dirty="0" err="1"/>
              <a:t>GridSearchCV</a:t>
            </a:r>
            <a:r>
              <a:rPr lang="en-MY" sz="1600" dirty="0"/>
              <a:t> with 10-fold cross-validation: </a:t>
            </a:r>
            <a:r>
              <a:rPr lang="en-MY" sz="1600" b="1" dirty="0"/>
              <a:t>Logistic Regression</a:t>
            </a:r>
            <a:r>
              <a:rPr lang="en-MY" sz="1600" dirty="0"/>
              <a:t>, </a:t>
            </a:r>
            <a:r>
              <a:rPr lang="en-MY" sz="1600" b="1" dirty="0"/>
              <a:t>Support Vector Machine (SVM)</a:t>
            </a:r>
            <a:r>
              <a:rPr lang="en-MY" sz="1600" dirty="0"/>
              <a:t>, </a:t>
            </a:r>
            <a:r>
              <a:rPr lang="en-MY" sz="1600" b="1" dirty="0"/>
              <a:t>Decision Tree</a:t>
            </a:r>
            <a:r>
              <a:rPr lang="en-MY" sz="1600" dirty="0"/>
              <a:t>, and </a:t>
            </a:r>
            <a:r>
              <a:rPr lang="en-MY" sz="1600" b="1" dirty="0"/>
              <a:t>K-Nearest </a:t>
            </a:r>
            <a:r>
              <a:rPr lang="en-MY" sz="1600" b="1" dirty="0" err="1"/>
              <a:t>Neighbors</a:t>
            </a:r>
            <a:r>
              <a:rPr lang="en-MY" sz="1600" b="1" dirty="0"/>
              <a:t> (KNN)</a:t>
            </a:r>
            <a:r>
              <a:rPr lang="en-MY" sz="1600" dirty="0"/>
              <a:t>. </a:t>
            </a:r>
          </a:p>
          <a:p>
            <a:pPr lvl="0"/>
            <a:r>
              <a:rPr lang="en-MY" sz="1600" b="1" dirty="0"/>
              <a:t>Evaluation Results:</a:t>
            </a:r>
            <a:endParaRPr lang="en-MY" sz="1600" dirty="0"/>
          </a:p>
          <a:p>
            <a:pPr lvl="1"/>
            <a:r>
              <a:rPr lang="en-MY" sz="1600" b="1" dirty="0"/>
              <a:t>Decision Tree:</a:t>
            </a:r>
            <a:r>
              <a:rPr lang="en-MY" sz="1600" dirty="0"/>
              <a:t> Best Cross-Validation Score: </a:t>
            </a:r>
            <a:r>
              <a:rPr lang="en-MY" sz="1600" b="1" dirty="0"/>
              <a:t>88.93%</a:t>
            </a:r>
            <a:r>
              <a:rPr lang="en-MY" sz="1600" dirty="0"/>
              <a:t> | Test Accuracy: </a:t>
            </a:r>
            <a:r>
              <a:rPr lang="en-MY" sz="1600" b="1" dirty="0"/>
              <a:t>83.33%</a:t>
            </a:r>
            <a:r>
              <a:rPr lang="en-MY" sz="1600" dirty="0"/>
              <a:t>. </a:t>
            </a:r>
          </a:p>
          <a:p>
            <a:pPr lvl="1"/>
            <a:r>
              <a:rPr lang="en-MY" sz="1600" b="1" dirty="0"/>
              <a:t>SVM (Sigmoid Kernel):</a:t>
            </a:r>
            <a:r>
              <a:rPr lang="en-MY" sz="1600" dirty="0"/>
              <a:t> Best Cross-Validation Score: </a:t>
            </a:r>
            <a:r>
              <a:rPr lang="en-MY" sz="1600" b="1" dirty="0"/>
              <a:t>84.82%</a:t>
            </a:r>
            <a:r>
              <a:rPr lang="en-MY" sz="1600" dirty="0"/>
              <a:t> | Test Accuracy: </a:t>
            </a:r>
            <a:r>
              <a:rPr lang="en-MY" sz="1600" b="1" dirty="0"/>
              <a:t>83.33%</a:t>
            </a:r>
            <a:r>
              <a:rPr lang="en-MY" sz="1600" dirty="0"/>
              <a:t>. </a:t>
            </a:r>
          </a:p>
          <a:p>
            <a:pPr lvl="1"/>
            <a:r>
              <a:rPr lang="en-MY" sz="1600" b="1" dirty="0"/>
              <a:t>KNN (k=10):</a:t>
            </a:r>
            <a:r>
              <a:rPr lang="en-MY" sz="1600" dirty="0"/>
              <a:t> Best Cross-Validation Score: </a:t>
            </a:r>
            <a:r>
              <a:rPr lang="en-MY" sz="1600" b="1" dirty="0"/>
              <a:t>84.82%</a:t>
            </a:r>
            <a:r>
              <a:rPr lang="en-MY" sz="1600" dirty="0"/>
              <a:t> | Test Accuracy: </a:t>
            </a:r>
            <a:r>
              <a:rPr lang="en-MY" sz="1600" b="1" dirty="0"/>
              <a:t>83.33%</a:t>
            </a:r>
            <a:r>
              <a:rPr lang="en-MY" sz="1600" dirty="0"/>
              <a:t>. </a:t>
            </a:r>
          </a:p>
          <a:p>
            <a:pPr lvl="1"/>
            <a:r>
              <a:rPr lang="en-MY" sz="1600" b="1" dirty="0"/>
              <a:t>Logistic Regression:</a:t>
            </a:r>
            <a:r>
              <a:rPr lang="en-MY" sz="1600" dirty="0"/>
              <a:t> Best Cross-Validation Score: </a:t>
            </a:r>
            <a:r>
              <a:rPr lang="en-MY" sz="1600" b="1" dirty="0"/>
              <a:t>84.64%</a:t>
            </a:r>
            <a:r>
              <a:rPr lang="en-MY" sz="1600" dirty="0"/>
              <a:t> | Test Accuracy: </a:t>
            </a:r>
            <a:r>
              <a:rPr lang="en-MY" sz="1600" b="1" dirty="0"/>
              <a:t>83.33%</a:t>
            </a:r>
            <a:r>
              <a:rPr lang="en-MY" sz="1600" dirty="0"/>
              <a:t>. </a:t>
            </a:r>
          </a:p>
          <a:p>
            <a:pPr lvl="0"/>
            <a:r>
              <a:rPr lang="en-MY" sz="1600" b="1" dirty="0"/>
              <a:t>Verdict:</a:t>
            </a:r>
            <a:r>
              <a:rPr lang="en-MY" sz="1600" dirty="0"/>
              <a:t> All models achieved an identical test accuracy of </a:t>
            </a:r>
            <a:r>
              <a:rPr lang="en-MY" sz="1600" b="1" dirty="0"/>
              <a:t>83.33%</a:t>
            </a:r>
            <a:r>
              <a:rPr lang="en-MY" sz="1600" dirty="0"/>
              <a:t> on the unseen test set, with </a:t>
            </a:r>
            <a:r>
              <a:rPr lang="en-MY" sz="1600" b="1" dirty="0"/>
              <a:t>Decision Tree</a:t>
            </a:r>
            <a:r>
              <a:rPr lang="en-MY" sz="1600" dirty="0"/>
              <a:t> yielding the highest validation score during hyperparameter tuning.</a:t>
            </a: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3" name="Picture 2">
            <a:extLst>
              <a:ext uri="{FF2B5EF4-FFF2-40B4-BE49-F238E27FC236}">
                <a16:creationId xmlns:a16="http://schemas.microsoft.com/office/drawing/2014/main" id="{875C8EE0-264F-A1D9-C7CD-E7CA09A39322}"/>
              </a:ext>
            </a:extLst>
          </p:cNvPr>
          <p:cNvPicPr>
            <a:picLocks noChangeAspect="1"/>
          </p:cNvPicPr>
          <p:nvPr/>
        </p:nvPicPr>
        <p:blipFill>
          <a:blip r:embed="rId3"/>
          <a:stretch>
            <a:fillRect/>
          </a:stretch>
        </p:blipFill>
        <p:spPr>
          <a:xfrm>
            <a:off x="5995070" y="1523206"/>
            <a:ext cx="5926667" cy="3811588"/>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1476372"/>
            <a:ext cx="5874629" cy="3811588"/>
          </a:xfrm>
          <a:prstGeom prst="rect">
            <a:avLst/>
          </a:prstGeom>
        </p:spPr>
        <p:txBody>
          <a:bodyPr>
            <a:normAutofit fontScale="77500" lnSpcReduction="20000"/>
          </a:bodyPr>
          <a:lstStyle/>
          <a:p>
            <a:pPr lvl="0"/>
            <a:r>
              <a:rPr lang="en-MY" b="1" dirty="0"/>
              <a:t>Confusion Matrix Breakdown (Test Set = 18 samples):</a:t>
            </a:r>
            <a:endParaRPr lang="en-MY" dirty="0"/>
          </a:p>
          <a:p>
            <a:pPr lvl="1"/>
            <a:r>
              <a:rPr lang="en-MY" b="1" dirty="0"/>
              <a:t>True Positives (Landed = 1):</a:t>
            </a:r>
            <a:r>
              <a:rPr lang="en-MY" dirty="0"/>
              <a:t> </a:t>
            </a:r>
            <a:r>
              <a:rPr lang="en-MY" b="1" dirty="0"/>
              <a:t>12</a:t>
            </a:r>
            <a:r>
              <a:rPr lang="en-MY" dirty="0"/>
              <a:t> cases correctly predicted as successful landings. </a:t>
            </a:r>
          </a:p>
          <a:p>
            <a:pPr lvl="1"/>
            <a:r>
              <a:rPr lang="en-MY" b="1" dirty="0"/>
              <a:t>True Negatives (Did not land = 0):</a:t>
            </a:r>
            <a:r>
              <a:rPr lang="en-MY" dirty="0"/>
              <a:t> </a:t>
            </a:r>
            <a:r>
              <a:rPr lang="en-MY" b="1" dirty="0"/>
              <a:t>3</a:t>
            </a:r>
            <a:r>
              <a:rPr lang="en-MY" dirty="0"/>
              <a:t> cases correctly identified as landing failures. </a:t>
            </a:r>
          </a:p>
          <a:p>
            <a:pPr lvl="1"/>
            <a:r>
              <a:rPr lang="en-MY" b="1" dirty="0"/>
              <a:t>False Positives:</a:t>
            </a:r>
            <a:r>
              <a:rPr lang="en-MY" dirty="0"/>
              <a:t> </a:t>
            </a:r>
            <a:r>
              <a:rPr lang="en-MY" b="1" dirty="0"/>
              <a:t>3</a:t>
            </a:r>
            <a:r>
              <a:rPr lang="en-MY" dirty="0"/>
              <a:t> cases where the booster failed, but the model predicted success. </a:t>
            </a:r>
          </a:p>
          <a:p>
            <a:pPr lvl="1"/>
            <a:r>
              <a:rPr lang="en-MY" b="1" dirty="0"/>
              <a:t>False Negatives:</a:t>
            </a:r>
            <a:r>
              <a:rPr lang="en-MY" dirty="0"/>
              <a:t> </a:t>
            </a:r>
            <a:r>
              <a:rPr lang="en-MY" b="1" dirty="0"/>
              <a:t>0</a:t>
            </a:r>
            <a:r>
              <a:rPr lang="en-MY" dirty="0"/>
              <a:t> cases (recall for successful landings is 100%). </a:t>
            </a:r>
          </a:p>
          <a:p>
            <a:pPr lvl="0"/>
            <a:r>
              <a:rPr lang="en-MY" b="1" dirty="0"/>
              <a:t>Key Insight:</a:t>
            </a:r>
            <a:r>
              <a:rPr lang="en-MY" dirty="0"/>
              <a:t> The models excel at correctly identifying successful booster landings, while the minor error margin stems from false positives due to the smaller proportion of failure records in the dataset. </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2" name="Picture 1">
            <a:extLst>
              <a:ext uri="{FF2B5EF4-FFF2-40B4-BE49-F238E27FC236}">
                <a16:creationId xmlns:a16="http://schemas.microsoft.com/office/drawing/2014/main" id="{C059EAA0-0047-B02D-100A-AD1373286E5B}"/>
              </a:ext>
            </a:extLst>
          </p:cNvPr>
          <p:cNvPicPr>
            <a:picLocks noChangeAspect="1"/>
          </p:cNvPicPr>
          <p:nvPr/>
        </p:nvPicPr>
        <p:blipFill>
          <a:blip r:embed="rId3"/>
          <a:stretch>
            <a:fillRect/>
          </a:stretch>
        </p:blipFill>
        <p:spPr>
          <a:xfrm>
            <a:off x="6883395" y="1476372"/>
            <a:ext cx="4846330" cy="4160528"/>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560094"/>
            <a:ext cx="9654149" cy="4351338"/>
          </a:xfrm>
          <a:prstGeom prst="rect">
            <a:avLst/>
          </a:prstGeom>
        </p:spPr>
        <p:txBody>
          <a:bodyPr>
            <a:noAutofit/>
          </a:bodyPr>
          <a:lstStyle/>
          <a:p>
            <a:pPr lvl="0"/>
            <a:r>
              <a:rPr lang="en-MY" sz="2000" b="1" dirty="0">
                <a:latin typeface="Abadi" panose="020B0604020104020204" pitchFamily="34" charset="0"/>
              </a:rPr>
              <a:t>Payload &amp; Orbit Dynamics:</a:t>
            </a:r>
            <a:r>
              <a:rPr lang="en-MY" sz="2000" dirty="0">
                <a:latin typeface="Abadi" panose="020B0604020104020204" pitchFamily="34" charset="0"/>
              </a:rPr>
              <a:t> Heavy payloads (&gt;13,000 kg) and polar/low orbits (VLEO, LEO, SSO) have the highest booster recovery success rates, whereas GTO orbits experience lower success due to high re-entry energy constraints. </a:t>
            </a:r>
          </a:p>
          <a:p>
            <a:pPr lvl="0"/>
            <a:r>
              <a:rPr lang="en-MY" sz="2000" b="1" dirty="0">
                <a:latin typeface="Abadi" panose="020B0604020104020204" pitchFamily="34" charset="0"/>
              </a:rPr>
              <a:t>Site Location Optimization:</a:t>
            </a:r>
            <a:r>
              <a:rPr lang="en-MY" sz="2000" dirty="0">
                <a:latin typeface="Abadi" panose="020B0604020104020204" pitchFamily="34" charset="0"/>
              </a:rPr>
              <a:t> Launch sites situated along coastlines (Cape Canaveral and Vandenberg) ensure safety over water, with KSC LC-39A delivering the highest landing recovery ratio (76.9%). </a:t>
            </a:r>
          </a:p>
          <a:p>
            <a:pPr lvl="0"/>
            <a:r>
              <a:rPr lang="en-MY" sz="2000" b="1" dirty="0">
                <a:latin typeface="Abadi" panose="020B0604020104020204" pitchFamily="34" charset="0"/>
              </a:rPr>
              <a:t>Evolution of Booster Reusability:</a:t>
            </a:r>
            <a:r>
              <a:rPr lang="en-MY" sz="2000" dirty="0">
                <a:latin typeface="Abadi" panose="020B0604020104020204" pitchFamily="34" charset="0"/>
              </a:rPr>
              <a:t> Landing success rates rose from 0% in 2010–2013 to over 85–90% by 2019–2020 through continuous booster upgrades (Block 5). </a:t>
            </a:r>
          </a:p>
          <a:p>
            <a:pPr lvl="0"/>
            <a:r>
              <a:rPr lang="en-MY" sz="2000" b="1" dirty="0">
                <a:latin typeface="Abadi" panose="020B0604020104020204" pitchFamily="34" charset="0"/>
              </a:rPr>
              <a:t>Predictive Performance:</a:t>
            </a:r>
            <a:r>
              <a:rPr lang="en-MY" sz="2000" dirty="0">
                <a:latin typeface="Abadi" panose="020B0604020104020204" pitchFamily="34" charset="0"/>
              </a:rPr>
              <a:t> Supervised machine learning models reliably predict Falcon 9 first-stage landing outcomes with </a:t>
            </a:r>
            <a:r>
              <a:rPr lang="en-MY" sz="2000" b="1" dirty="0">
                <a:latin typeface="Abadi" panose="020B0604020104020204" pitchFamily="34" charset="0"/>
              </a:rPr>
              <a:t>83.33% test accuracy</a:t>
            </a:r>
            <a:r>
              <a:rPr lang="en-MY" sz="2000" dirty="0">
                <a:latin typeface="Abadi" panose="020B0604020104020204" pitchFamily="34" charset="0"/>
              </a:rPr>
              <a:t>, providing commercial competitors with a data-driven basis to bid competitively against SpaceX launch pricing. </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47</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544562"/>
            <a:ext cx="10515600" cy="4351338"/>
          </a:xfrm>
          <a:prstGeom prst="rect">
            <a:avLst/>
          </a:prstGeom>
        </p:spPr>
        <p:txBody>
          <a:bodyPr>
            <a:normAutofit/>
          </a:bodyPr>
          <a:lstStyle/>
          <a:p>
            <a:pPr lvl="0"/>
            <a:r>
              <a:rPr lang="en-MY" sz="2200" b="1" dirty="0">
                <a:latin typeface="Abadi" panose="020B0604020104020204" pitchFamily="34" charset="0"/>
              </a:rPr>
              <a:t>Tools &amp; Libraries Used:</a:t>
            </a:r>
            <a:r>
              <a:rPr lang="en-MY" sz="2200" dirty="0">
                <a:latin typeface="Abadi" panose="020B0604020104020204" pitchFamily="34" charset="0"/>
              </a:rPr>
              <a:t> Python, Pandas, NumPy, Matplotlib, Seaborn, Folium, </a:t>
            </a:r>
            <a:r>
              <a:rPr lang="en-MY" sz="2200" dirty="0" err="1">
                <a:latin typeface="Abadi" panose="020B0604020104020204" pitchFamily="34" charset="0"/>
              </a:rPr>
              <a:t>Plotly</a:t>
            </a:r>
            <a:r>
              <a:rPr lang="en-MY" sz="2200" dirty="0">
                <a:latin typeface="Abadi" panose="020B0604020104020204" pitchFamily="34" charset="0"/>
              </a:rPr>
              <a:t> Dash, Scikit-learn, SQLite. </a:t>
            </a:r>
          </a:p>
          <a:p>
            <a:pPr lvl="0"/>
            <a:r>
              <a:rPr lang="en-MY" sz="2200" b="1" dirty="0">
                <a:latin typeface="Abadi" panose="020B0604020104020204" pitchFamily="34" charset="0"/>
              </a:rPr>
              <a:t>Datasets Applied:</a:t>
            </a:r>
            <a:endParaRPr lang="en-MY" sz="2200" dirty="0">
              <a:latin typeface="Abadi" panose="020B0604020104020204" pitchFamily="34" charset="0"/>
            </a:endParaRPr>
          </a:p>
          <a:p>
            <a:pPr lvl="1"/>
            <a:r>
              <a:rPr lang="en-MY" sz="2200" dirty="0">
                <a:latin typeface="Abadi" panose="020B0604020104020204" pitchFamily="34" charset="0"/>
              </a:rPr>
              <a:t>SpaceX REST API Launches (dataset_part_1.csv) </a:t>
            </a:r>
          </a:p>
          <a:p>
            <a:pPr lvl="1"/>
            <a:r>
              <a:rPr lang="en-MY" sz="2200" dirty="0">
                <a:latin typeface="Abadi" panose="020B0604020104020204" pitchFamily="34" charset="0"/>
              </a:rPr>
              <a:t>Wrangled Outcomes (dataset_part_2.csv) </a:t>
            </a:r>
          </a:p>
          <a:p>
            <a:pPr lvl="1"/>
            <a:r>
              <a:rPr lang="en-MY" sz="2200" dirty="0">
                <a:latin typeface="Abadi" panose="020B0604020104020204" pitchFamily="34" charset="0"/>
              </a:rPr>
              <a:t>One-Hot Encoded Features (dataset_part_3.csv) </a:t>
            </a:r>
          </a:p>
          <a:p>
            <a:pPr lvl="1"/>
            <a:r>
              <a:rPr lang="en-MY" sz="2200" dirty="0">
                <a:latin typeface="Abadi" panose="020B0604020104020204" pitchFamily="34" charset="0"/>
              </a:rPr>
              <a:t>Geo-location &amp; Dashboard Records (spacex_launch_geo.csv, spacex_launch_dash.csv) </a:t>
            </a:r>
          </a:p>
          <a:p>
            <a:pPr lvl="0"/>
            <a:r>
              <a:rPr lang="en-MY" sz="2200" b="1" dirty="0">
                <a:latin typeface="Abadi" panose="020B0604020104020204" pitchFamily="34" charset="0"/>
              </a:rPr>
              <a:t>GitHub Repository: </a:t>
            </a:r>
            <a:r>
              <a:rPr lang="en-MY" sz="2200" dirty="0">
                <a:latin typeface="Abadi" panose="020B0604020104020204" pitchFamily="34" charset="0"/>
              </a:rPr>
              <a:t>https://github.com/shadowdragon-arch/API-Lab.git</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402</TotalTime>
  <Words>4168</Words>
  <Application>Microsoft Office PowerPoint</Application>
  <PresentationFormat>Widescreen</PresentationFormat>
  <Paragraphs>372</Paragraphs>
  <Slides>48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Abadi</vt:lpstr>
      <vt:lpstr>Arial</vt:lpstr>
      <vt:lpstr>Calibri</vt:lpstr>
      <vt:lpstr>IBM Plex Mono SemiBold</vt:lpstr>
      <vt:lpstr>system-ui</vt:lpstr>
      <vt:lpstr>Custom Design</vt:lpstr>
      <vt:lpstr>PowerPoint Presentation</vt:lpstr>
      <vt:lpstr>PowerPoint Presentation</vt:lpstr>
      <vt:lpstr>PowerPoint Presentation</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Ahmad Baihaqi Bin Da'razaki</cp:lastModifiedBy>
  <cp:revision>199</cp:revision>
  <dcterms:created xsi:type="dcterms:W3CDTF">2021-04-29T18:58:34Z</dcterms:created>
  <dcterms:modified xsi:type="dcterms:W3CDTF">2026-10-20T09:03:20Z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